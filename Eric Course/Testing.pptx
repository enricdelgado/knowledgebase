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Average"/>
      <p:regular r:id="rId29"/>
    </p:embeddedFont>
    <p:embeddedFont>
      <p:font typeface="Oswald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verag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swald-bold.fntdata"/><Relationship Id="rId3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0d9800e1d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0d9800e1d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0d9800e1d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0d9800e1d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4338ce5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4338ce5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4338ce5d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4338ce5d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5cc1bd5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15cc1bd5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5cc1bd5e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15cc1bd5e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5cc1bd5e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5cc1bd5e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15cc1bd5e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15cc1bd5e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15cc1bd5e9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15cc1bd5e9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5cc1bd5e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5cc1bd5e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15cc1bd5e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15cc1bd5e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5cc1bd5e9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15cc1bd5e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fd3fa7040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fd3fa7040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15cc1bd5e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15cc1bd5e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4338ce5d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14338ce5d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15cc1bd5e9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15cc1bd5e9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15cc1bd5e9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15cc1bd5e9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15cc1bd5e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15cc1bd5e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5cc1bd5e9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15cc1bd5e9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15cc1bd5e9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15cc1bd5e9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15cc1bd5e9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15cc1bd5e9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15cc1bd5e9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15cc1bd5e9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cs.unity3d.com/Packages/com.unity.test-framework@2.0/manual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Testing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Advanced Unity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Content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604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Why we need Tests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How to do Tests in Unity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How to Start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NUnit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Real life Exercise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Play Mode Tests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Unity Test Framework Limitations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Why we need Tests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604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When building code, many things can go wrong.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ca"/>
              <a:t>Someone </a:t>
            </a:r>
            <a:r>
              <a:rPr lang="ca"/>
              <a:t>can </a:t>
            </a:r>
            <a:r>
              <a:rPr b="1" lang="ca"/>
              <a:t>type </a:t>
            </a:r>
            <a:r>
              <a:rPr lang="ca"/>
              <a:t>something wrong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ca"/>
              <a:t>Someone </a:t>
            </a:r>
            <a:r>
              <a:rPr lang="ca"/>
              <a:t>can </a:t>
            </a:r>
            <a:r>
              <a:rPr b="1" lang="ca"/>
              <a:t>change </a:t>
            </a:r>
            <a:r>
              <a:rPr lang="ca"/>
              <a:t>someone else code without being aware of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ca"/>
              <a:t>Someone </a:t>
            </a:r>
            <a:r>
              <a:rPr lang="ca"/>
              <a:t>can </a:t>
            </a:r>
            <a:r>
              <a:rPr b="1" lang="ca"/>
              <a:t>remove </a:t>
            </a:r>
            <a:r>
              <a:rPr lang="ca"/>
              <a:t>someone else code without being aware of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ca"/>
              <a:t>Someone </a:t>
            </a:r>
            <a:r>
              <a:rPr lang="ca"/>
              <a:t>can </a:t>
            </a:r>
            <a:r>
              <a:rPr b="1" lang="ca"/>
              <a:t>add </a:t>
            </a:r>
            <a:r>
              <a:rPr lang="ca"/>
              <a:t>code for new behaviour that collides with the old behaviours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ca"/>
              <a:t>Someone </a:t>
            </a:r>
            <a:r>
              <a:rPr lang="ca"/>
              <a:t>can </a:t>
            </a:r>
            <a:r>
              <a:rPr b="1" lang="ca"/>
              <a:t>forget </a:t>
            </a:r>
            <a:r>
              <a:rPr lang="ca"/>
              <a:t>old requirements when building new ones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1676450" y="3473525"/>
            <a:ext cx="3926100" cy="4764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Someone == You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2400" y="2465325"/>
            <a:ext cx="2483101" cy="241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80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2863500"/>
            <a:ext cx="8517000" cy="2280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Imagine having a magic button that when pressed would inform you if there are bugs in your code.</a:t>
            </a:r>
            <a:endParaRPr b="1" sz="6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That’s exactly what Tests do:</a:t>
            </a:r>
            <a:endParaRPr b="1" sz="6100"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9538" y="1640000"/>
            <a:ext cx="4733925" cy="225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7"/>
          <p:cNvCxnSpPr/>
          <p:nvPr/>
        </p:nvCxnSpPr>
        <p:spPr>
          <a:xfrm rot="10800000">
            <a:off x="5543525" y="2078525"/>
            <a:ext cx="2695800" cy="1631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7"/>
          <p:cNvCxnSpPr/>
          <p:nvPr/>
        </p:nvCxnSpPr>
        <p:spPr>
          <a:xfrm flipH="1" rot="10800000">
            <a:off x="994125" y="1989825"/>
            <a:ext cx="853200" cy="2233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How to do Tests in Unity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06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How to Start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Test Runner window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 sz="1800"/>
              <a:t>Assemblies for Tests</a:t>
            </a:r>
            <a:endParaRPr sz="18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Editor vs Play Tests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NUnit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Tests Structure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Tests Attributes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AAA Pattern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Naming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How to Start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50" y="1054825"/>
            <a:ext cx="3613689" cy="38209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9"/>
          <p:cNvGrpSpPr/>
          <p:nvPr/>
        </p:nvGrpSpPr>
        <p:grpSpPr>
          <a:xfrm>
            <a:off x="4133139" y="1582938"/>
            <a:ext cx="4833660" cy="3292860"/>
            <a:chOff x="4124289" y="1582950"/>
            <a:chExt cx="4833660" cy="3292860"/>
          </a:xfrm>
        </p:grpSpPr>
        <p:pic>
          <p:nvPicPr>
            <p:cNvPr id="102" name="Google Shape;102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24289" y="2406750"/>
              <a:ext cx="4833660" cy="246906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3" name="Google Shape;103;p19"/>
            <p:cNvCxnSpPr/>
            <p:nvPr/>
          </p:nvCxnSpPr>
          <p:spPr>
            <a:xfrm>
              <a:off x="5312900" y="1587450"/>
              <a:ext cx="709500" cy="9843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4" name="Google Shape;104;p19"/>
            <p:cNvCxnSpPr/>
            <p:nvPr/>
          </p:nvCxnSpPr>
          <p:spPr>
            <a:xfrm flipH="1">
              <a:off x="7141400" y="1582950"/>
              <a:ext cx="1046400" cy="9933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5" name="Google Shape;105;p19"/>
            <p:cNvCxnSpPr/>
            <p:nvPr/>
          </p:nvCxnSpPr>
          <p:spPr>
            <a:xfrm rot="10800000">
              <a:off x="6501225" y="2963750"/>
              <a:ext cx="79800" cy="12327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06" name="Google Shape;10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7013" y="499575"/>
            <a:ext cx="1019175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How to Start</a:t>
            </a:r>
            <a:endParaRPr/>
          </a:p>
        </p:txBody>
      </p:sp>
      <p:grpSp>
        <p:nvGrpSpPr>
          <p:cNvPr id="112" name="Google Shape;112;p20"/>
          <p:cNvGrpSpPr/>
          <p:nvPr/>
        </p:nvGrpSpPr>
        <p:grpSpPr>
          <a:xfrm>
            <a:off x="3770575" y="1099175"/>
            <a:ext cx="5273440" cy="3820975"/>
            <a:chOff x="152400" y="1170125"/>
            <a:chExt cx="5273440" cy="3820975"/>
          </a:xfrm>
        </p:grpSpPr>
        <p:pic>
          <p:nvPicPr>
            <p:cNvPr id="113" name="Google Shape;113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170125"/>
              <a:ext cx="5273440" cy="38209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4" name="Google Shape;114;p20"/>
            <p:cNvCxnSpPr/>
            <p:nvPr/>
          </p:nvCxnSpPr>
          <p:spPr>
            <a:xfrm flipH="1" rot="10800000">
              <a:off x="1011850" y="3584400"/>
              <a:ext cx="993300" cy="1509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" name="Google Shape;115;p20"/>
            <p:cNvCxnSpPr/>
            <p:nvPr/>
          </p:nvCxnSpPr>
          <p:spPr>
            <a:xfrm flipH="1" rot="10800000">
              <a:off x="898200" y="2805650"/>
              <a:ext cx="993300" cy="1509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6" name="Google Shape;116;p20"/>
            <p:cNvCxnSpPr/>
            <p:nvPr/>
          </p:nvCxnSpPr>
          <p:spPr>
            <a:xfrm flipH="1" rot="10800000">
              <a:off x="898200" y="2328425"/>
              <a:ext cx="993300" cy="1509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7" name="Google Shape;117;p20"/>
            <p:cNvCxnSpPr/>
            <p:nvPr/>
          </p:nvCxnSpPr>
          <p:spPr>
            <a:xfrm rot="10800000">
              <a:off x="532975" y="1731025"/>
              <a:ext cx="0" cy="6918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18" name="Google Shape;11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644" y="3756258"/>
            <a:ext cx="1824298" cy="1231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325" y="2462135"/>
            <a:ext cx="2677725" cy="1215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26311" y="1099175"/>
            <a:ext cx="837768" cy="12845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20"/>
          <p:cNvCxnSpPr/>
          <p:nvPr/>
        </p:nvCxnSpPr>
        <p:spPr>
          <a:xfrm>
            <a:off x="1745188" y="2192250"/>
            <a:ext cx="0" cy="496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20"/>
          <p:cNvCxnSpPr/>
          <p:nvPr/>
        </p:nvCxnSpPr>
        <p:spPr>
          <a:xfrm>
            <a:off x="1046238" y="3259750"/>
            <a:ext cx="0" cy="496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3" name="Google Shape;12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64072" y="4267396"/>
            <a:ext cx="1275675" cy="113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NUnit</a:t>
            </a:r>
            <a:endParaRPr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1152475"/>
            <a:ext cx="806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ca"/>
              <a:t>NUnit is a C# testing library</a:t>
            </a:r>
            <a:r>
              <a:rPr lang="ca"/>
              <a:t> used</a:t>
            </a:r>
            <a:r>
              <a:rPr b="1" lang="ca"/>
              <a:t> to write and run automated code tests</a:t>
            </a:r>
            <a:r>
              <a:rPr lang="ca"/>
              <a:t>.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It is part of a set of tools that help developers ensure that their code works correctly, especially when working on large or complex projects.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Simply put</a:t>
            </a:r>
            <a:r>
              <a:rPr lang="ca"/>
              <a:t>, NUnit helps you verify that your code works correctly by running </a:t>
            </a:r>
            <a:r>
              <a:rPr b="1" lang="ca"/>
              <a:t>automated tests,</a:t>
            </a:r>
            <a:r>
              <a:rPr lang="ca"/>
              <a:t> which can be run at any time to confirm that no bugs were introduced during development.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NUnit</a:t>
            </a:r>
            <a:endParaRPr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4275300" y="1017725"/>
            <a:ext cx="2793600" cy="40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a"/>
              <a:t>OneTimeSetUp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ca"/>
              <a:t>SetUp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a"/>
              <a:t> 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a"/>
              <a:t>TearDown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ca"/>
              <a:t> SetUp: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a"/>
              <a:t>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a"/>
              <a:t>TearDown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ca"/>
              <a:t> OneTimeTearDown</a:t>
            </a:r>
            <a:endParaRPr/>
          </a:p>
        </p:txBody>
      </p:sp>
      <p:grpSp>
        <p:nvGrpSpPr>
          <p:cNvPr id="136" name="Google Shape;136;p22"/>
          <p:cNvGrpSpPr/>
          <p:nvPr/>
        </p:nvGrpSpPr>
        <p:grpSpPr>
          <a:xfrm>
            <a:off x="1631725" y="1017775"/>
            <a:ext cx="2581500" cy="4144650"/>
            <a:chOff x="0" y="1017725"/>
            <a:chExt cx="2581500" cy="4144650"/>
          </a:xfrm>
        </p:grpSpPr>
        <p:pic>
          <p:nvPicPr>
            <p:cNvPr id="137" name="Google Shape;137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4875" y="1017725"/>
              <a:ext cx="2056625" cy="40421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8" name="Google Shape;138;p22"/>
            <p:cNvCxnSpPr/>
            <p:nvPr/>
          </p:nvCxnSpPr>
          <p:spPr>
            <a:xfrm flipH="1" rot="10800000">
              <a:off x="213725" y="2538125"/>
              <a:ext cx="709500" cy="5232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9" name="Google Shape;139;p22"/>
            <p:cNvCxnSpPr/>
            <p:nvPr/>
          </p:nvCxnSpPr>
          <p:spPr>
            <a:xfrm flipH="1" rot="10800000">
              <a:off x="213725" y="2983175"/>
              <a:ext cx="709500" cy="5232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0" name="Google Shape;140;p22"/>
            <p:cNvCxnSpPr/>
            <p:nvPr/>
          </p:nvCxnSpPr>
          <p:spPr>
            <a:xfrm flipH="1" rot="10800000">
              <a:off x="163800" y="3383875"/>
              <a:ext cx="709500" cy="5232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1" name="Google Shape;141;p22"/>
            <p:cNvCxnSpPr/>
            <p:nvPr/>
          </p:nvCxnSpPr>
          <p:spPr>
            <a:xfrm flipH="1" rot="10800000">
              <a:off x="163800" y="3811175"/>
              <a:ext cx="709500" cy="5232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2" name="Google Shape;142;p22"/>
            <p:cNvCxnSpPr/>
            <p:nvPr/>
          </p:nvCxnSpPr>
          <p:spPr>
            <a:xfrm flipH="1" rot="10800000">
              <a:off x="163800" y="4229625"/>
              <a:ext cx="709500" cy="5232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3" name="Google Shape;143;p22"/>
            <p:cNvCxnSpPr/>
            <p:nvPr/>
          </p:nvCxnSpPr>
          <p:spPr>
            <a:xfrm flipH="1" rot="10800000">
              <a:off x="163800" y="4639175"/>
              <a:ext cx="709500" cy="5232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4" name="Google Shape;144;p22"/>
            <p:cNvCxnSpPr/>
            <p:nvPr/>
          </p:nvCxnSpPr>
          <p:spPr>
            <a:xfrm flipH="1" rot="10800000">
              <a:off x="0" y="1643425"/>
              <a:ext cx="709500" cy="5232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AAA Pattern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1617950" y="1347575"/>
            <a:ext cx="154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a"/>
              <a:t>Arrange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a"/>
              <a:t>Act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ca"/>
              <a:t>Assert</a:t>
            </a:r>
            <a:endParaRPr/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19450"/>
            <a:ext cx="1245475" cy="22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3025" y="360850"/>
            <a:ext cx="4588200" cy="46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Naming</a:t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311700" y="1152475"/>
            <a:ext cx="806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There are many naming conventions.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Microsoft suggests the following one: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But my favorite, and the one that my company actually uses is: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4"/>
          <p:cNvSpPr txBox="1"/>
          <p:nvPr>
            <p:ph type="title"/>
          </p:nvPr>
        </p:nvSpPr>
        <p:spPr>
          <a:xfrm>
            <a:off x="311700" y="2687950"/>
            <a:ext cx="8517000" cy="119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900"/>
              <a:t>When_{condition}_Expect_{result}</a:t>
            </a:r>
            <a:endParaRPr b="1" sz="4900"/>
          </a:p>
        </p:txBody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271125" y="1804900"/>
            <a:ext cx="9047700" cy="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 sz="1300"/>
              <a:t>{name of the method being tested}_{scenario under which it’s being tested}_{expected behaviour when scenario is invoked}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Tests Structure - Naming</a:t>
            </a:r>
            <a:endParaRPr/>
          </a:p>
        </p:txBody>
      </p:sp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386650" y="1464025"/>
            <a:ext cx="1480200" cy="6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Microsoft: </a:t>
            </a:r>
            <a:endParaRPr/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1961400" y="1464025"/>
            <a:ext cx="6870900" cy="6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TakeDamage_WhenCharacterTakes30Damage_ExpectHPToBe70</a:t>
            </a:r>
            <a:endParaRPr/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1961400" y="2321325"/>
            <a:ext cx="6870900" cy="6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When_CharacterTakes30Damage_Expect_HPToBe70</a:t>
            </a:r>
            <a:endParaRPr/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897925" y="2321325"/>
            <a:ext cx="1480200" cy="6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Eric:</a:t>
            </a:r>
            <a:endParaRPr/>
          </a:p>
        </p:txBody>
      </p:sp>
      <p:sp>
        <p:nvSpPr>
          <p:cNvPr id="170" name="Google Shape;170;p25"/>
          <p:cNvSpPr/>
          <p:nvPr/>
        </p:nvSpPr>
        <p:spPr>
          <a:xfrm>
            <a:off x="2102500" y="3473525"/>
            <a:ext cx="3926100" cy="4764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What really matters is </a:t>
            </a:r>
            <a:r>
              <a:rPr b="1" lang="ca">
                <a:latin typeface="Average"/>
                <a:ea typeface="Average"/>
                <a:cs typeface="Average"/>
                <a:sym typeface="Average"/>
              </a:rPr>
              <a:t>CONSISTENCY</a:t>
            </a:r>
            <a:endParaRPr b="1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975" y="1895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Is hard to understand 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100"/>
              <a:t>WHY </a:t>
            </a:r>
            <a:endParaRPr b="1" sz="6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is helpful to learn to do 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100"/>
              <a:t>Testing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100"/>
              <a:t>So… EXERCISE!</a:t>
            </a:r>
            <a:endParaRPr b="1" sz="6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Exercise - Inventory System</a:t>
            </a:r>
            <a:endParaRPr/>
          </a:p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>
            <a:off x="311700" y="1152475"/>
            <a:ext cx="832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Our </a:t>
            </a:r>
            <a:r>
              <a:rPr b="1" lang="ca"/>
              <a:t>boss</a:t>
            </a:r>
            <a:r>
              <a:rPr lang="ca"/>
              <a:t> wants to implement an </a:t>
            </a:r>
            <a:r>
              <a:rPr b="1" lang="ca"/>
              <a:t>Inventory system</a:t>
            </a:r>
            <a:r>
              <a:rPr lang="ca"/>
              <a:t> for our videogame.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He says that it will be </a:t>
            </a:r>
            <a:r>
              <a:rPr b="1" i="1" lang="ca" u="sng"/>
              <a:t>VERY </a:t>
            </a:r>
            <a:r>
              <a:rPr lang="ca" u="sng"/>
              <a:t>simple</a:t>
            </a:r>
            <a:r>
              <a:rPr lang="ca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 sz="1800"/>
              <a:t>We only need the </a:t>
            </a:r>
            <a:r>
              <a:rPr lang="ca" sz="1800"/>
              <a:t>functionality</a:t>
            </a:r>
            <a:r>
              <a:rPr lang="ca" sz="1800"/>
              <a:t> of</a:t>
            </a:r>
            <a:r>
              <a:rPr lang="ca" sz="1800"/>
              <a:t> </a:t>
            </a:r>
            <a:r>
              <a:rPr b="1" lang="ca" sz="1800"/>
              <a:t>adding and removing items from our inventory</a:t>
            </a:r>
            <a:r>
              <a:rPr lang="ca" sz="1800"/>
              <a:t>.</a:t>
            </a:r>
            <a:endParaRPr sz="1800"/>
          </a:p>
        </p:txBody>
      </p:sp>
      <p:sp>
        <p:nvSpPr>
          <p:cNvPr id="187" name="Google Shape;187;p28"/>
          <p:cNvSpPr/>
          <p:nvPr/>
        </p:nvSpPr>
        <p:spPr>
          <a:xfrm>
            <a:off x="235675" y="3736925"/>
            <a:ext cx="3926100" cy="1313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This is very common in the industry, be aware of </a:t>
            </a:r>
            <a:r>
              <a:rPr b="1" lang="ca">
                <a:latin typeface="Average"/>
                <a:ea typeface="Average"/>
                <a:cs typeface="Average"/>
                <a:sym typeface="Average"/>
              </a:rPr>
              <a:t>THOSE </a:t>
            </a:r>
            <a:r>
              <a:rPr lang="ca">
                <a:latin typeface="Average"/>
                <a:ea typeface="Average"/>
                <a:cs typeface="Average"/>
                <a:sym typeface="Average"/>
              </a:rPr>
              <a:t>types of signals!</a:t>
            </a:r>
            <a:br>
              <a:rPr lang="ca">
                <a:latin typeface="Average"/>
                <a:ea typeface="Average"/>
                <a:cs typeface="Average"/>
                <a:sym typeface="Average"/>
              </a:rPr>
            </a:br>
            <a:endParaRPr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Bosses usually don’t know anything about programming, so they don’t </a:t>
            </a:r>
            <a:r>
              <a:rPr b="1" lang="ca">
                <a:latin typeface="Average"/>
                <a:ea typeface="Average"/>
                <a:cs typeface="Average"/>
                <a:sym typeface="Average"/>
              </a:rPr>
              <a:t>KNOW </a:t>
            </a:r>
            <a:r>
              <a:rPr lang="ca">
                <a:latin typeface="Average"/>
                <a:ea typeface="Average"/>
                <a:cs typeface="Average"/>
                <a:sym typeface="Average"/>
              </a:rPr>
              <a:t>if it’s </a:t>
            </a:r>
            <a:r>
              <a:rPr b="1" lang="ca">
                <a:latin typeface="Average"/>
                <a:ea typeface="Average"/>
                <a:cs typeface="Average"/>
                <a:sym typeface="Average"/>
              </a:rPr>
              <a:t>SIMPLE</a:t>
            </a:r>
            <a:r>
              <a:rPr lang="ca">
                <a:latin typeface="Average"/>
                <a:ea typeface="Average"/>
                <a:cs typeface="Average"/>
                <a:sym typeface="Average"/>
              </a:rPr>
              <a:t> or not.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88" name="Google Shape;188;p28"/>
          <p:cNvCxnSpPr/>
          <p:nvPr/>
        </p:nvCxnSpPr>
        <p:spPr>
          <a:xfrm flipH="1" rot="10800000">
            <a:off x="673925" y="2509750"/>
            <a:ext cx="418200" cy="121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9" name="Google Shape;1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7107" y="3255475"/>
            <a:ext cx="1896901" cy="188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Exercise - Inventory System</a:t>
            </a:r>
            <a:endParaRPr/>
          </a:p>
        </p:txBody>
      </p:sp>
      <p:sp>
        <p:nvSpPr>
          <p:cNvPr id="195" name="Google Shape;195;p29"/>
          <p:cNvSpPr txBox="1"/>
          <p:nvPr>
            <p:ph idx="1" type="body"/>
          </p:nvPr>
        </p:nvSpPr>
        <p:spPr>
          <a:xfrm>
            <a:off x="311700" y="1152475"/>
            <a:ext cx="832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You already mentioned that usually Inventory systems have more restrictions, and after some testing your Boss confirms what you already knew: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We need to add some restrictions to our inventory.</a:t>
            </a:r>
            <a:br>
              <a:rPr lang="ca"/>
            </a:b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So he decides to implement something </a:t>
            </a:r>
            <a:r>
              <a:rPr b="1" lang="ca" u="sng"/>
              <a:t>VERY </a:t>
            </a:r>
            <a:r>
              <a:rPr lang="ca" u="sng"/>
              <a:t>innovative</a:t>
            </a:r>
            <a:r>
              <a:rPr lang="ca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 sz="1800"/>
              <a:t>We literally needs to </a:t>
            </a:r>
            <a:r>
              <a:rPr b="1" lang="ca" sz="1800"/>
              <a:t>add a maximum </a:t>
            </a:r>
            <a:r>
              <a:rPr b="1" lang="ca" sz="1800"/>
              <a:t>amount</a:t>
            </a:r>
            <a:r>
              <a:rPr b="1" lang="ca" sz="1800"/>
              <a:t> of items to our inventory.</a:t>
            </a:r>
            <a:endParaRPr b="1" sz="1800"/>
          </a:p>
        </p:txBody>
      </p:sp>
      <p:sp>
        <p:nvSpPr>
          <p:cNvPr id="196" name="Google Shape;196;p29"/>
          <p:cNvSpPr/>
          <p:nvPr/>
        </p:nvSpPr>
        <p:spPr>
          <a:xfrm>
            <a:off x="6649575" y="2825925"/>
            <a:ext cx="2320500" cy="4815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Did you learn the lesson?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At this point if you are </a:t>
            </a:r>
            <a:r>
              <a:rPr b="1" i="1" lang="ca" sz="4100"/>
              <a:t>smart </a:t>
            </a:r>
            <a:r>
              <a:rPr b="1" lang="ca" sz="4100"/>
              <a:t>you can realize that more changes will come regarding to the inventory.</a:t>
            </a:r>
            <a:br>
              <a:rPr b="1" lang="ca" sz="4100"/>
            </a:b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And it’s quite time consuming testing inventories so…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5177"/>
              <a:t>let’s do some tests?</a:t>
            </a:r>
            <a:endParaRPr b="1" sz="5177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Exercise - Inventory System</a:t>
            </a:r>
            <a:endParaRPr/>
          </a:p>
        </p:txBody>
      </p:sp>
      <p:sp>
        <p:nvSpPr>
          <p:cNvPr id="207" name="Google Shape;207;p31"/>
          <p:cNvSpPr txBox="1"/>
          <p:nvPr>
            <p:ph idx="1" type="body"/>
          </p:nvPr>
        </p:nvSpPr>
        <p:spPr>
          <a:xfrm>
            <a:off x="311700" y="1152475"/>
            <a:ext cx="832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After some iterations with QA and Beta Testers, we found that having 29489 individual items of the same thing in the bag, it’s pretty inconvenient.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So our boss comes to the rescue and says that know we are going to </a:t>
            </a:r>
            <a:r>
              <a:rPr b="1" lang="ca"/>
              <a:t>add another feature</a:t>
            </a:r>
            <a:r>
              <a:rPr lang="ca"/>
              <a:t> to the inventory system.</a:t>
            </a:r>
            <a:br>
              <a:rPr lang="ca"/>
            </a:b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208" name="Google Shape;20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3900" y="2937200"/>
            <a:ext cx="2090101" cy="220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1"/>
          <p:cNvSpPr txBox="1"/>
          <p:nvPr>
            <p:ph idx="1" type="body"/>
          </p:nvPr>
        </p:nvSpPr>
        <p:spPr>
          <a:xfrm>
            <a:off x="635050" y="2719375"/>
            <a:ext cx="574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We want to </a:t>
            </a:r>
            <a:r>
              <a:rPr b="1" lang="ca"/>
              <a:t>stack our items</a:t>
            </a:r>
            <a:r>
              <a:rPr lang="ca"/>
              <a:t>, but we are going to have </a:t>
            </a:r>
            <a:r>
              <a:rPr b="1" lang="ca"/>
              <a:t>different stack limits for each item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Exercise - Inventory System</a:t>
            </a:r>
            <a:endParaRPr/>
          </a:p>
        </p:txBody>
      </p:sp>
      <p:sp>
        <p:nvSpPr>
          <p:cNvPr id="215" name="Google Shape;215;p32"/>
          <p:cNvSpPr txBox="1"/>
          <p:nvPr>
            <p:ph idx="1" type="body"/>
          </p:nvPr>
        </p:nvSpPr>
        <p:spPr>
          <a:xfrm>
            <a:off x="311700" y="1152475"/>
            <a:ext cx="832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Our inventory system works like a charm for some weeks, when suddenly your boss, very angry, tolds you that the inventory system is broken, and it’s your fault.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You know it’s not, your system was working previously, right?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So you open the project and run the tests when suddenly….wait, what?!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/>
          <p:nvPr>
            <p:ph type="title"/>
          </p:nvPr>
        </p:nvSpPr>
        <p:spPr>
          <a:xfrm>
            <a:off x="313500" y="1530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That’s the reason why </a:t>
            </a:r>
            <a:r>
              <a:rPr b="1" lang="ca" sz="5500"/>
              <a:t>CI/CD</a:t>
            </a:r>
            <a:r>
              <a:rPr b="1" lang="ca" sz="4100"/>
              <a:t> exists,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but that’s a story… 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for another day</a:t>
            </a:r>
            <a:endParaRPr b="1" sz="5177"/>
          </a:p>
        </p:txBody>
      </p:sp>
      <p:pic>
        <p:nvPicPr>
          <p:cNvPr id="221" name="Google Shape;22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2726" y="2605300"/>
            <a:ext cx="4858550" cy="25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Okey, I see the value in that now…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Btw, You also mentioned something about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100"/>
              <a:t>Play Mode Tests?</a:t>
            </a:r>
            <a:endParaRPr b="1" sz="6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Unity Test Framework limitations</a:t>
            </a:r>
            <a:endParaRPr/>
          </a:p>
        </p:txBody>
      </p:sp>
      <p:sp>
        <p:nvSpPr>
          <p:cNvPr id="232" name="Google Shape;232;p35"/>
          <p:cNvSpPr txBox="1"/>
          <p:nvPr>
            <p:ph idx="1" type="body"/>
          </p:nvPr>
        </p:nvSpPr>
        <p:spPr>
          <a:xfrm>
            <a:off x="311700" y="1152475"/>
            <a:ext cx="841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Unity Test Framework version 2.0.1 includes the following known limitations: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The UnityTest attribute does not support WSA platform.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The UnityTest attribute does not support Parameterized tests (except for ValueSource).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The UnityTest attribute does not support the NUnit Repeat attribute.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Nested test fixture cannot run from the Editor UI.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When using the NUnit Retry attribute in PlayMode tests, it throws InvalidCastException.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Parameterized tests do not work when tests are generated at runtime.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The test tree in the UI is built before the run and only displays tests matching the tree at that time. Any test completely behind a define (e.g. if #UNITY_ANDROID) will still run, but the result will not show up in the Editor. The workaround for this is to have only the body of the test method behind the define.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ca" u="sng">
                <a:solidFill>
                  <a:schemeClr val="hlink"/>
                </a:solidFill>
                <a:hlinkClick r:id="rId3"/>
              </a:rPr>
              <a:t>https://docs.unity3d.com/Packages/com.unity.test-framework@2.0/manual/index.html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