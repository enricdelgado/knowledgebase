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5143500" cx="9144000"/>
  <p:notesSz cx="6858000" cy="9144000"/>
  <p:embeddedFontLst>
    <p:embeddedFont>
      <p:font typeface="Roboto"/>
      <p:regular r:id="rId26"/>
      <p:bold r:id="rId27"/>
      <p:italic r:id="rId28"/>
      <p:boldItalic r:id="rId29"/>
    </p:embeddedFont>
    <p:embeddedFont>
      <p:font typeface="Average"/>
      <p:regular r:id="rId30"/>
    </p:embeddedFont>
    <p:embeddedFont>
      <p:font typeface="Oswald"/>
      <p:regular r:id="rId31"/>
      <p:bold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611B71C-CFE9-4B74-B894-1AAD82E980DC}">
  <a:tblStyle styleId="{F611B71C-CFE9-4B74-B894-1AAD82E980D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-regular.fntdata"/><Relationship Id="rId25" Type="http://schemas.openxmlformats.org/officeDocument/2006/relationships/slide" Target="slides/slide19.xml"/><Relationship Id="rId28" Type="http://schemas.openxmlformats.org/officeDocument/2006/relationships/font" Target="fonts/Roboto-italic.fntdata"/><Relationship Id="rId27" Type="http://schemas.openxmlformats.org/officeDocument/2006/relationships/font" Target="fonts/Roboto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Oswald-regular.fntdata"/><Relationship Id="rId30" Type="http://schemas.openxmlformats.org/officeDocument/2006/relationships/font" Target="fonts/Average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font" Target="fonts/Oswald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0a1cc1d7e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0a1cc1d7e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0cc1f5de3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0cc1f5de3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0cc1f5de3b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0cc1f5de3b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0a1cc1d7e3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0a1cc1d7e3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0cc1f5de3b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0cc1f5de3b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0cc1f5de3b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0cc1f5de3b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0cc1f5de3b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0cc1f5de3b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0cc1f5de3b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0cc1f5de3b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0cc1f5de3b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0cc1f5de3b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0cc1f5de3b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0cc1f5de3b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0cc1f5de3b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0cc1f5de3b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0cc1f5de3b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0cc1f5de3b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0cc1f5de3b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0cc1f5de3b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0cc1f5de3b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0cc1f5de3b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0cc1f5de3b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0cc1f5de3b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0cc1f5de3b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0cc1f5de3b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0cc8f1a48f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0cc8f1a48f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0cc1f5de3b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0cc1f5de3b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gif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gif"/><Relationship Id="rId4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14.gif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gif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gif"/><Relationship Id="rId4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Relationship Id="rId4" Type="http://schemas.openxmlformats.org/officeDocument/2006/relationships/image" Target="../media/image18.gif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://www.youtube.com/watch?v=TmAU8aPekEo" TargetMode="External"/><Relationship Id="rId4" Type="http://schemas.openxmlformats.org/officeDocument/2006/relationships/image" Target="../media/image19.jpg"/><Relationship Id="rId5" Type="http://schemas.openxmlformats.org/officeDocument/2006/relationships/image" Target="../media/image2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gif"/><Relationship Id="rId4" Type="http://schemas.openxmlformats.org/officeDocument/2006/relationships/image" Target="../media/image21.gif"/><Relationship Id="rId5" Type="http://schemas.openxmlformats.org/officeDocument/2006/relationships/hyperlink" Target="http://www.youtube.com/watch?v=e6Gjhr1IP6w" TargetMode="External"/><Relationship Id="rId6" Type="http://schemas.openxmlformats.org/officeDocument/2006/relationships/image" Target="../media/image24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://www.youtube.com/watch?v=3lO1q8mQrrg" TargetMode="External"/><Relationship Id="rId4" Type="http://schemas.openxmlformats.org/officeDocument/2006/relationships/image" Target="../media/image26.jpg"/><Relationship Id="rId5" Type="http://schemas.openxmlformats.org/officeDocument/2006/relationships/hyperlink" Target="http://www.youtube.com/watch?v=m8lOwrWNbEY" TargetMode="External"/><Relationship Id="rId6" Type="http://schemas.openxmlformats.org/officeDocument/2006/relationships/image" Target="../media/image2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Animations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Animations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287972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61111"/>
              <a:buFont typeface="Arial"/>
              <a:buChar char="●"/>
            </a:pPr>
            <a:r>
              <a:rPr lang="ca"/>
              <a:t>Videogame</a:t>
            </a:r>
            <a:r>
              <a:rPr lang="ca"/>
              <a:t> </a:t>
            </a:r>
            <a:r>
              <a:rPr lang="ca"/>
              <a:t>Animations</a:t>
            </a:r>
            <a:r>
              <a:rPr lang="ca"/>
              <a:t> VS Cinema Animations</a:t>
            </a:r>
            <a:endParaRPr/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61111"/>
              <a:buFont typeface="Arial"/>
              <a:buChar char="●"/>
            </a:pPr>
            <a:r>
              <a:rPr lang="ca"/>
              <a:t>Animation types in Videogames</a:t>
            </a:r>
            <a:endParaRPr/>
          </a:p>
          <a:p>
            <a:pPr indent="-287972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8571"/>
              <a:buFont typeface="Arial"/>
              <a:buAutoNum type="alphaLcPeriod"/>
            </a:pPr>
            <a:r>
              <a:rPr lang="ca"/>
              <a:t>Keyframe Animation</a:t>
            </a:r>
            <a:endParaRPr/>
          </a:p>
          <a:p>
            <a:pPr indent="-287972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8571"/>
              <a:buFont typeface="Arial"/>
              <a:buAutoNum type="alphaLcPeriod"/>
            </a:pPr>
            <a:r>
              <a:rPr lang="ca"/>
              <a:t>Tweening</a:t>
            </a:r>
            <a:endParaRPr/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61111"/>
              <a:buFont typeface="Arial"/>
              <a:buChar char="●"/>
            </a:pPr>
            <a:r>
              <a:rPr lang="ca"/>
              <a:t>Unity Animation Components</a:t>
            </a:r>
            <a:endParaRPr/>
          </a:p>
          <a:p>
            <a:pPr indent="-287972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8571"/>
              <a:buFont typeface="Arial"/>
              <a:buAutoNum type="alphaLcPeriod"/>
            </a:pPr>
            <a:r>
              <a:rPr lang="ca"/>
              <a:t>Animator Window &amp; Animator Component</a:t>
            </a:r>
            <a:endParaRPr/>
          </a:p>
          <a:p>
            <a:pPr indent="-287972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8571"/>
              <a:buFont typeface="Arial"/>
              <a:buAutoNum type="alphaLcPeriod"/>
            </a:pPr>
            <a:r>
              <a:rPr lang="ca"/>
              <a:t>Animation Clips &amp; Animation Controllers</a:t>
            </a:r>
            <a:endParaRPr/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61111"/>
              <a:buFont typeface="Arial"/>
              <a:buChar char="●"/>
            </a:pPr>
            <a:r>
              <a:rPr lang="ca"/>
              <a:t>Practice: </a:t>
            </a:r>
            <a:endParaRPr/>
          </a:p>
          <a:p>
            <a:pPr indent="-287972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8571"/>
              <a:buFont typeface="Arial"/>
              <a:buAutoNum type="alphaLcPeriod"/>
            </a:pPr>
            <a:r>
              <a:rPr lang="ca"/>
              <a:t>Animation by Keyframes</a:t>
            </a:r>
            <a:endParaRPr/>
          </a:p>
          <a:p>
            <a:pPr indent="-287972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8571"/>
              <a:buFont typeface="Arial"/>
              <a:buAutoNum type="alphaLcPeriod"/>
            </a:pPr>
            <a:r>
              <a:rPr lang="ca"/>
              <a:t>Animation by Tweening</a:t>
            </a:r>
            <a:endParaRPr/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61111"/>
              <a:buFont typeface="Arial"/>
              <a:buChar char="●"/>
            </a:pPr>
            <a:r>
              <a:rPr lang="ca"/>
              <a:t>Mecanim</a:t>
            </a:r>
            <a:endParaRPr/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61111"/>
              <a:buFont typeface="Arial"/>
              <a:buChar char="●"/>
            </a:pPr>
            <a:r>
              <a:rPr lang="ca"/>
              <a:t>Blend Trees</a:t>
            </a:r>
            <a:endParaRPr/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61111"/>
              <a:buFont typeface="Arial"/>
              <a:buChar char="●"/>
            </a:pPr>
            <a:r>
              <a:rPr lang="ca"/>
              <a:t>Ragdolls &amp; Physics Animation</a:t>
            </a:r>
            <a:endParaRPr/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61111"/>
              <a:buFont typeface="Arial"/>
              <a:buChar char="●"/>
            </a:pPr>
            <a:r>
              <a:rPr lang="ca"/>
              <a:t>Procedural Animation and IK</a:t>
            </a:r>
            <a:endParaRPr/>
          </a:p>
          <a:p>
            <a:pPr indent="-287972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8571"/>
              <a:buFont typeface="Arial"/>
              <a:buAutoNum type="alphaLcPeriod"/>
            </a:pPr>
            <a:r>
              <a:rPr lang="ca"/>
              <a:t>Practice: Procedural Animation</a:t>
            </a:r>
            <a:endParaRPr/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61111"/>
              <a:buFont typeface="Arial"/>
              <a:buChar char="●"/>
            </a:pPr>
            <a:r>
              <a:rPr lang="ca"/>
              <a:t>Two of my favorite talks about animation in Videogames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Videogames vs Cinema</a:t>
            </a:r>
            <a:endParaRPr/>
          </a:p>
        </p:txBody>
      </p:sp>
      <p:graphicFrame>
        <p:nvGraphicFramePr>
          <p:cNvPr id="72" name="Google Shape;72;p15"/>
          <p:cNvGraphicFramePr/>
          <p:nvPr/>
        </p:nvGraphicFramePr>
        <p:xfrm>
          <a:off x="258925" y="1098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{F611B71C-CFE9-4B74-B894-1AAD82E980DC}</a:tableStyleId>
              </a:tblPr>
              <a:tblGrid>
                <a:gridCol w="1970750"/>
                <a:gridCol w="3461225"/>
                <a:gridCol w="3194150"/>
              </a:tblGrid>
              <a:tr h="291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 sz="10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Aspect</a:t>
                      </a:r>
                      <a:endParaRPr b="1" sz="10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66675" marR="171450" marL="171450">
                    <a:lnL cap="flat" cmpd="sng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8650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 sz="10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Film/TV Animation</a:t>
                      </a:r>
                      <a:endParaRPr b="1" sz="10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66675" marR="171450" marL="171450">
                    <a:lnL cap="flat" cmpd="sng" w="8650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8650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 sz="10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Video Game Animation</a:t>
                      </a:r>
                      <a:endParaRPr b="1" sz="10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66675" marR="171450" marL="171450">
                    <a:lnL cap="flat" cmpd="sng" w="8650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8650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 sz="10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Camera Angles</a:t>
                      </a:r>
                      <a:endParaRPr b="1" sz="10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66675" marR="171450" marL="171450">
                    <a:lnL cap="flat" cmpd="sng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0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Fixed and controlled by creators</a:t>
                      </a:r>
                      <a:endParaRPr sz="10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66675" marR="171450" marL="171450">
                    <a:lnL cap="flat" cmpd="sng" w="8650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0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Multiple angles based on player control</a:t>
                      </a:r>
                      <a:endParaRPr sz="10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66675" marR="171450" marL="171450">
                    <a:lnL cap="flat" cmpd="sng" w="8650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 sz="10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Animation Structure</a:t>
                      </a:r>
                      <a:endParaRPr b="1" sz="10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66675" marR="171450" marL="171450">
                    <a:lnL cap="flat" cmpd="sng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0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Sequential, fixed storyline</a:t>
                      </a:r>
                      <a:endParaRPr sz="10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66675" marR="171450" marL="171450">
                    <a:lnL cap="flat" cmpd="sng" w="8650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0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Cyclical, dependent on player actions</a:t>
                      </a:r>
                      <a:endParaRPr sz="10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66675" marR="171450" marL="171450">
                    <a:lnL cap="flat" cmpd="sng" w="8650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 sz="10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Control &amp; Interactivity</a:t>
                      </a:r>
                      <a:endParaRPr b="1" sz="10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66675" marR="171450" marL="171450">
                    <a:lnL cap="flat" cmpd="sng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0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Viewer has no control, passive experience</a:t>
                      </a:r>
                      <a:endParaRPr sz="10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66675" marR="171450" marL="171450">
                    <a:lnL cap="flat" cmpd="sng" w="8650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0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Player-controlled, highly interactive</a:t>
                      </a:r>
                      <a:endParaRPr sz="10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66675" marR="171450" marL="171450">
                    <a:lnL cap="flat" cmpd="sng" w="8650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 sz="10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Polygon Budget</a:t>
                      </a:r>
                      <a:endParaRPr b="1" sz="10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66675" marR="171450" marL="171450">
                    <a:lnL cap="flat" cmpd="sng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0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High, allowing for detailed and complex models</a:t>
                      </a:r>
                      <a:endParaRPr sz="10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66675" marR="171450" marL="171450">
                    <a:lnL cap="flat" cmpd="sng" w="8650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0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Lower, optimized for real-time rendering</a:t>
                      </a:r>
                      <a:endParaRPr sz="10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66675" marR="171450" marL="171450">
                    <a:lnL cap="flat" cmpd="sng" w="8650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8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 sz="10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Technical Limitations</a:t>
                      </a:r>
                      <a:endParaRPr b="1" sz="10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66675" marR="171450" marL="171450">
                    <a:lnL cap="flat" cmpd="sng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0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Minimal, can use powerful hardware and software</a:t>
                      </a:r>
                      <a:endParaRPr sz="10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66675" marR="171450" marL="171450">
                    <a:lnL cap="flat" cmpd="sng" w="8650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0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Significant, must run smoothly on consoles and computers</a:t>
                      </a:r>
                      <a:endParaRPr sz="10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66675" marR="171450" marL="171450">
                    <a:lnL cap="flat" cmpd="sng" w="8650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8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 sz="10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Programming Knowledge</a:t>
                      </a:r>
                      <a:endParaRPr b="1" sz="10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66675" marR="171450" marL="171450">
                    <a:lnL cap="flat" cmpd="sng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0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Not required</a:t>
                      </a:r>
                      <a:endParaRPr sz="10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66675" marR="171450" marL="171450">
                    <a:lnL cap="flat" cmpd="sng" w="8650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0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Required for creating interactive and responsive actions</a:t>
                      </a:r>
                      <a:endParaRPr sz="10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66675" marR="171450" marL="171450">
                    <a:lnL cap="flat" cmpd="sng" w="8650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8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 sz="10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Error Detection</a:t>
                      </a:r>
                      <a:endParaRPr b="1" sz="10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66675" marR="171450" marL="171450">
                    <a:lnL cap="flat" cmpd="sng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0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Easier to catch mistakes during production</a:t>
                      </a:r>
                      <a:endParaRPr sz="10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66675" marR="171450" marL="171450">
                    <a:lnL cap="flat" cmpd="sng" w="8650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0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Harder to identify glitches due to numerous interactions</a:t>
                      </a:r>
                      <a:endParaRPr sz="10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66675" marR="171450" marL="171450">
                    <a:lnL cap="flat" cmpd="sng" w="8650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8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 sz="10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Rendering Process</a:t>
                      </a:r>
                      <a:endParaRPr b="1" sz="10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66675" marR="171450" marL="171450">
                    <a:lnL cap="flat" cmpd="sng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0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Pre-rendered, can be extensively edited</a:t>
                      </a:r>
                      <a:endParaRPr sz="10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66675" marR="171450" marL="171450">
                    <a:lnL cap="flat" cmpd="sng" w="8650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0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Real-time rendering, must be optimized for performance</a:t>
                      </a:r>
                      <a:endParaRPr sz="10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66675" marR="171450" marL="171450">
                    <a:lnL cap="flat" cmpd="sng" w="8650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Animation Types in videogames</a:t>
            </a:r>
            <a:endParaRPr/>
          </a:p>
        </p:txBody>
      </p:sp>
      <p:pic>
        <p:nvPicPr>
          <p:cNvPr id="78" name="Google Shape;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2875" y="1152900"/>
            <a:ext cx="6588600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Animation Types in videogames: Keyframe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0" cy="35754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Animation Types in videogames: Keyframe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3175" y="1519238"/>
            <a:ext cx="7724775" cy="210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Animation Types in videogames: Tweening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6" name="Google Shape;96;p19"/>
          <p:cNvPicPr preferRelativeResize="0"/>
          <p:nvPr/>
        </p:nvPicPr>
        <p:blipFill rotWithShape="1">
          <a:blip r:embed="rId3">
            <a:alphaModFix/>
          </a:blip>
          <a:srcRect b="27735" l="752" r="53658" t="0"/>
          <a:stretch/>
        </p:blipFill>
        <p:spPr>
          <a:xfrm>
            <a:off x="4308650" y="1428600"/>
            <a:ext cx="3187774" cy="325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9"/>
          <p:cNvPicPr preferRelativeResize="0"/>
          <p:nvPr/>
        </p:nvPicPr>
        <p:blipFill rotWithShape="1">
          <a:blip r:embed="rId4">
            <a:alphaModFix/>
          </a:blip>
          <a:srcRect b="0" l="22496" r="25210" t="0"/>
          <a:stretch/>
        </p:blipFill>
        <p:spPr>
          <a:xfrm>
            <a:off x="569500" y="1252475"/>
            <a:ext cx="3187774" cy="146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Unity Animation Components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3" name="Google Shape;10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0675" y="1311375"/>
            <a:ext cx="1501275" cy="345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81200" y="1311363"/>
            <a:ext cx="5249050" cy="286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9300" y="3299525"/>
            <a:ext cx="3019425" cy="1771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0"/>
          <p:cNvSpPr txBox="1"/>
          <p:nvPr/>
        </p:nvSpPr>
        <p:spPr>
          <a:xfrm>
            <a:off x="3412625" y="849675"/>
            <a:ext cx="4962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Animator Controller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07" name="Google Shape;107;p20"/>
          <p:cNvSpPr txBox="1"/>
          <p:nvPr/>
        </p:nvSpPr>
        <p:spPr>
          <a:xfrm>
            <a:off x="232625" y="2571750"/>
            <a:ext cx="1775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Animator Component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08" name="Google Shape;108;p20"/>
          <p:cNvSpPr txBox="1"/>
          <p:nvPr/>
        </p:nvSpPr>
        <p:spPr>
          <a:xfrm>
            <a:off x="7416175" y="726375"/>
            <a:ext cx="4962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Animation Clip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Unity Animation View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4" name="Google Shape;11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6175" y="1236363"/>
            <a:ext cx="8096250" cy="216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62125" y="3531046"/>
            <a:ext cx="5463950" cy="148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Practice: Let’s animate by KEYFRAMES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1" name="Google Shape;12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0000" y="1111350"/>
            <a:ext cx="3848550" cy="371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Practice: Let’s animate by TWEENING using DoTween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7" name="Google Shape;12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6425" y="1068275"/>
            <a:ext cx="3848550" cy="371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57375" y="1170125"/>
            <a:ext cx="3819525" cy="245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Unity Animation System (Mecanim)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4" name="Google Shape;13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0075" y="1190750"/>
            <a:ext cx="7191450" cy="361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Blend Trees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0" name="Google Shape;14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2063" y="1017725"/>
            <a:ext cx="7116486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Ragdolls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6792060" cy="3820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71035" y="1911075"/>
            <a:ext cx="1894740" cy="18947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Ragdolls in Unity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3" name="Google Shape;15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325" y="1207975"/>
            <a:ext cx="3432525" cy="1741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5321" y="3065999"/>
            <a:ext cx="3390630" cy="178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30250" y="1170125"/>
            <a:ext cx="4148664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Physical Animation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n this 2020 GDC Summer session, Respawn Entertainment's Bartlomiej Waszak explains how Star Wars Jedi: Fallen Order uses physical simulation blended with authored animations to create high-fidelity character motion.&#10;&#10;Join the GDC mailing list: http://www.gdconf.com/subscribe&#10;&#10;Follow GDC on Twitter: https://twitter.com/Official_GDC &#10;&#10;GDC talks cover a range of developmental topics including game design, programming, audio, visual arts, business management, production, online games, and much more. We post a fresh GDC video every day.  Subscribe to the channel to stay on top of regular updates, and check out GDC Vault  for thousands of more in-depth talks from our archives." id="161" name="Google Shape;161;p28" title="Physical Animation in Star Wars Jedi: Fallen Order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170125"/>
            <a:ext cx="304800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52800" y="1170125"/>
            <a:ext cx="5638799" cy="31512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Procedural Animation and IK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8" name="Google Shape;16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7200" y="1224250"/>
            <a:ext cx="3955140" cy="219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5250" y="1224248"/>
            <a:ext cx="4377300" cy="2193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 tried to explain procedural animation in 10 steps.&#10;Check out my twitter: https://twitter.com/CodeerDev" id="170" name="Google Shape;170;p29" title="Unity procedural animation tutorial (10 steps)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44050" y="3417275"/>
            <a:ext cx="3048000" cy="17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Practice: Let’s animate Procedurally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6" name="Google Shape;17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4925" y="1017725"/>
            <a:ext cx="6534150" cy="367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Two of my favorite talks about animation in Videogames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n this GDC 2017 talk, id Software's Jake Campbell explains some of the techniques that were used to make the unique animations of DOOM in a modern game environment.&#10;&#10;Register for GDC: http://ubm.io/2gk5KTU&#10;&#10;Join the GDC mailing list: http://www.gdconf.com/subscribe&#10;&#10;Follow GDC on Twitter: https://twitter.com/Official_GDC &#10;&#10;GDC talks cover a range of developmental topics including game design, programming, audio, visual arts, business management, production, online games, and much more. We post a fresh GDC video every day.  Subscribe to the channel to stay on top of regular updates, and check out GDC Vault  for thousands of more in-depth talks from our archives." id="182" name="Google Shape;182;p31" title="Bringing Hell to Life: AI and Full Body Animation in DOOM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5425" y="1790475"/>
            <a:ext cx="3890400" cy="21883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asked with creating hundreds of character animations that would would blend seamlessly into a painted 2D world, but without any ability to illustrate, what technical and creative tricks could you employ to succeed? This GDC 2015 Animation Bootcamp talk from James Benson discusses Ori &amp; The Blind Forest's successful attempt to create thousands of Ghibli-style frames of animation with limited time, people and personal skillset." id="183" name="Google Shape;183;p31" title="The Animation Process Of Ori &amp; The Blind Forest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72000" y="1790475"/>
            <a:ext cx="3890400" cy="218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