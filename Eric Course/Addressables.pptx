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Average"/>
      <p:regular r:id="rId33"/>
    </p:embeddedFont>
    <p:embeddedFont>
      <p:font typeface="Oswald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Average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Oswald-bold.fntdata"/><Relationship Id="rId12" Type="http://schemas.openxmlformats.org/officeDocument/2006/relationships/slide" Target="slides/slide7.xml"/><Relationship Id="rId34" Type="http://schemas.openxmlformats.org/officeDocument/2006/relationships/font" Target="fonts/Oswald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1367bdbf0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1367bdbf0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1cf9a5318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1cf9a5318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1aa57b66b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1aa57b66b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1cf9a5318f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1cf9a5318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1cf9a5318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1cf9a5318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1cf9a5318f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1cf9a5318f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1cf9a5318f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1cf9a5318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cf9a5318f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1cf9a5318f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1cf9a5318f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1cf9a5318f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1cf9a5318f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1cf9a5318f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1cf9a5318f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1cf9a5318f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1cf9a5318f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1cf9a5318f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1cf9a5318f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1cf9a5318f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1cf9a5318f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1cf9a5318f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1cf9a5318f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1cf9a5318f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1cf9a5318f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1cf9a5318f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1cf9a5318f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1cf9a5318f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1cf9a5318f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1cf9a5318f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1cf9a5318f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1cf9a5318f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1cf9a5318f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1cf9a5318f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1cf9a5318f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1cf9a5318f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1cf9a5318f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1cf9a5318f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1cf9a5318f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1cf9a5318f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1cf9a5318f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1cf9a5318f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1cf9a5318f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1cf9a5318f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1cf9a5318f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1cf9a5318f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ca"/>
              <a:t>Install Addressables package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ca"/>
              <a:t>Create cube, assign SelfDestruct script, and UI Spawner with button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ca"/>
              <a:t>Create first group: Window-&gt;AssetManagment-&gt;Addressables-&gt;Groups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ca"/>
              <a:t>Set address in the cube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ca"/>
              <a:t>Adaptar el script de Spawner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ca"/>
              <a:t>Mostrar el profiler sin adaptar el destruct, para mostrar las instance counts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ca"/>
              <a:t>Addressable Settings activar el Profiler (Send Profiler events)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ca"/>
              <a:t>Explicar el “buildeo” de assetbundles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ca"/>
              <a:t>Explicar como generar sin querer memory leaks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ca"/>
              <a:t>Enseñar lo que pasa al cambiar de escenas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docs.unity3d.com/Manual/AssetBundlesIntro.html" TargetMode="External"/><Relationship Id="rId4" Type="http://schemas.openxmlformats.org/officeDocument/2006/relationships/hyperlink" Target="https://learn.unity.com/tutorial/assets-resources-and-assetbundles#5c7f8528edbc2a002053b5a8" TargetMode="External"/><Relationship Id="rId5" Type="http://schemas.openxmlformats.org/officeDocument/2006/relationships/hyperlink" Target="https://github.com/Unity-Technologies/Addressables-Sample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Addressables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Advanced Unity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31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Content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The Issue</a:t>
            </a:r>
            <a:endParaRPr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 sz="1800"/>
              <a:t>Build Contents/Package</a:t>
            </a:r>
            <a:endParaRPr sz="1800"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 sz="1800"/>
              <a:t>Direct references</a:t>
            </a:r>
            <a:endParaRPr sz="1800"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 sz="1800"/>
              <a:t>Resources Folder</a:t>
            </a:r>
            <a:endParaRPr sz="1800"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 sz="1800"/>
              <a:t>Result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Asset Bundles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Addressables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Package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Address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Groups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Content Loadout Strategy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Asset Reference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Asset Duplication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Extra resources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Exercise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323425"/>
            <a:ext cx="8517000" cy="44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ca" sz="4390"/>
              <a:t>The Issue</a:t>
            </a:r>
            <a:endParaRPr sz="439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323425"/>
            <a:ext cx="8517000" cy="44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390"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323425"/>
            <a:ext cx="3883706" cy="442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9500" y="877975"/>
            <a:ext cx="4113974" cy="321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31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The Issue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Build Contents/Package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Direct references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Resources Folder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Result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31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The Issue - Build Contents/Package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100" y="1102475"/>
            <a:ext cx="3834226" cy="3834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6726" y="1156875"/>
            <a:ext cx="4774873" cy="2234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31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The Issue - Direct References</a:t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800" y="1720850"/>
            <a:ext cx="5049399" cy="2339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2900" y="1720850"/>
            <a:ext cx="3758700" cy="2128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31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The Issue - Resources Folder</a:t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3511" y="1320050"/>
            <a:ext cx="4776974" cy="323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/>
          <p:nvPr/>
        </p:nvSpPr>
        <p:spPr>
          <a:xfrm>
            <a:off x="356175" y="4628475"/>
            <a:ext cx="2320500" cy="4815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Average"/>
                <a:ea typeface="Average"/>
                <a:cs typeface="Average"/>
                <a:sym typeface="Average"/>
              </a:rPr>
              <a:t>This Compressed File has a </a:t>
            </a:r>
            <a:r>
              <a:rPr b="1" lang="ca">
                <a:latin typeface="Average"/>
                <a:ea typeface="Average"/>
                <a:cs typeface="Average"/>
                <a:sym typeface="Average"/>
              </a:rPr>
              <a:t>maximum capacity of 4GB</a:t>
            </a:r>
            <a:r>
              <a:rPr lang="ca">
                <a:latin typeface="Average"/>
                <a:ea typeface="Average"/>
                <a:cs typeface="Average"/>
                <a:sym typeface="Average"/>
              </a:rPr>
              <a:t>!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106" name="Google Shape;106;p20"/>
          <p:cNvCxnSpPr>
            <a:stCxn id="105" idx="0"/>
          </p:cNvCxnSpPr>
          <p:nvPr/>
        </p:nvCxnSpPr>
        <p:spPr>
          <a:xfrm flipH="1" rot="10800000">
            <a:off x="1516425" y="4110075"/>
            <a:ext cx="651300" cy="5184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31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The Issue - Result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Hiccup/Long Loading times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Console: Certification Process Rejection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Mobile: Bad Review/Uninstall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323425"/>
            <a:ext cx="8517000" cy="44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ca" sz="4390"/>
              <a:t>What’s the REAL cause of this issue?</a:t>
            </a:r>
            <a:endParaRPr sz="439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323425"/>
            <a:ext cx="8517000" cy="44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ca" sz="4390"/>
              <a:t>Minimum Load control</a:t>
            </a:r>
            <a:endParaRPr b="1" sz="439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439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ca" sz="4390"/>
              <a:t>No Unload control</a:t>
            </a:r>
            <a:endParaRPr b="1" sz="439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323425"/>
            <a:ext cx="8517000" cy="44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ca" sz="4390"/>
              <a:t>How can we fix this?</a:t>
            </a:r>
            <a:endParaRPr b="1" sz="439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431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Asset Bundles</a:t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1152475"/>
            <a:ext cx="4458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AssetBundles are files which you can export from Unity to contain Assets of your choice. 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This allows you to stream in content, such as models, Textures, audio clips, or even entire Scenes, separately from the Scene in which they will be used.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-"/>
            </a:pPr>
            <a:r>
              <a:rPr lang="ca"/>
              <a:t>AssetBundles have been designed to simplify downloading content to your application.</a:t>
            </a:r>
            <a:endParaRPr/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0825" y="1270075"/>
            <a:ext cx="4155876" cy="1158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0825" y="2903610"/>
            <a:ext cx="4155876" cy="1237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431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Asset Bundles II</a:t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Cons: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Requires a manual configuration for EVERYTHING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Dependency between bundles needs to be set up manually (error prone)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Requires a lot of code to make it work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Pros: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1000"/>
              </a:spcAft>
              <a:buSzPts val="1400"/>
              <a:buChar char="-"/>
            </a:pPr>
            <a:r>
              <a:rPr lang="ca"/>
              <a:t>Works in every Unity version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93609" y="0"/>
            <a:ext cx="943760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311700" y="431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Addressables</a:t>
            </a:r>
            <a:endParaRPr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311700" y="1152475"/>
            <a:ext cx="622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System created to replace AssetBundles system</a:t>
            </a:r>
            <a:endParaRPr/>
          </a:p>
          <a:p>
            <a:pPr indent="-304165" lvl="1" marL="914400" rtl="0" algn="l">
              <a:spcBef>
                <a:spcPts val="100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Addressables simultaneously opens up the world of asset bundles while managing all the complexity.</a:t>
            </a:r>
            <a:endParaRPr/>
          </a:p>
          <a:p>
            <a:pPr indent="-325755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The Addressable Asset System allows the developer to ask for an asset via its address. </a:t>
            </a:r>
            <a:endParaRPr/>
          </a:p>
          <a:p>
            <a:pPr indent="-304165" lvl="1" marL="914400" rtl="0" algn="l">
              <a:spcBef>
                <a:spcPts val="100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Once an asset (e.g. a prefab) is marked "addressable", it generates an address which can be called from anywhere. Wherever the asset resides (local or remote), the system will locate it and its dependencies, then return it.</a:t>
            </a:r>
            <a:endParaRPr/>
          </a:p>
          <a:p>
            <a:pPr indent="-325755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Addressables use asynchronous loading to support loading from any location with any collection of dependencies. </a:t>
            </a:r>
            <a:endParaRPr/>
          </a:p>
          <a:p>
            <a:pPr indent="-304165" lvl="1" marL="914400" rtl="0" algn="l">
              <a:spcBef>
                <a:spcPts val="1000"/>
              </a:spcBef>
              <a:spcAft>
                <a:spcPts val="1000"/>
              </a:spcAft>
              <a:buSzPct val="100000"/>
              <a:buChar char="-"/>
            </a:pPr>
            <a:r>
              <a:rPr lang="ca"/>
              <a:t>Whether you have been using direct references, traditional asset bundles, or Resource folders, addressables provide a simpler way to make your game more dynamic</a:t>
            </a:r>
            <a:endParaRPr/>
          </a:p>
        </p:txBody>
      </p:sp>
      <p:pic>
        <p:nvPicPr>
          <p:cNvPr id="153" name="Google Shape;153;p28"/>
          <p:cNvPicPr preferRelativeResize="0"/>
          <p:nvPr/>
        </p:nvPicPr>
        <p:blipFill rotWithShape="1">
          <a:blip r:embed="rId3">
            <a:alphaModFix/>
          </a:blip>
          <a:srcRect b="0" l="0" r="0" t="35641"/>
          <a:stretch/>
        </p:blipFill>
        <p:spPr>
          <a:xfrm>
            <a:off x="6534225" y="3037925"/>
            <a:ext cx="2506551" cy="199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311700" y="431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Addressables - Package</a:t>
            </a:r>
            <a:endParaRPr/>
          </a:p>
        </p:txBody>
      </p:sp>
      <p:pic>
        <p:nvPicPr>
          <p:cNvPr id="159" name="Google Shape;15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775" y="1082175"/>
            <a:ext cx="7668452" cy="3834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type="title"/>
          </p:nvPr>
        </p:nvSpPr>
        <p:spPr>
          <a:xfrm>
            <a:off x="311700" y="431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Addressables - Address</a:t>
            </a:r>
            <a:endParaRPr/>
          </a:p>
        </p:txBody>
      </p:sp>
      <p:pic>
        <p:nvPicPr>
          <p:cNvPr id="165" name="Google Shape;16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8050" y="1809750"/>
            <a:ext cx="6696075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0"/>
          <p:cNvSpPr/>
          <p:nvPr/>
        </p:nvSpPr>
        <p:spPr>
          <a:xfrm>
            <a:off x="3319238" y="3969625"/>
            <a:ext cx="2273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Average"/>
                <a:ea typeface="Average"/>
                <a:cs typeface="Average"/>
                <a:sym typeface="Average"/>
              </a:rPr>
              <a:t>This is what we call an “Address”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167" name="Google Shape;167;p30"/>
          <p:cNvCxnSpPr>
            <a:stCxn id="166" idx="0"/>
          </p:cNvCxnSpPr>
          <p:nvPr/>
        </p:nvCxnSpPr>
        <p:spPr>
          <a:xfrm flipH="1" rot="10800000">
            <a:off x="4456088" y="3069025"/>
            <a:ext cx="19200" cy="900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title"/>
          </p:nvPr>
        </p:nvSpPr>
        <p:spPr>
          <a:xfrm>
            <a:off x="311700" y="431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Addressables - Groups</a:t>
            </a:r>
            <a:endParaRPr/>
          </a:p>
        </p:txBody>
      </p:sp>
      <p:pic>
        <p:nvPicPr>
          <p:cNvPr id="173" name="Google Shape;173;p31"/>
          <p:cNvPicPr preferRelativeResize="0"/>
          <p:nvPr/>
        </p:nvPicPr>
        <p:blipFill rotWithShape="1">
          <a:blip r:embed="rId3">
            <a:alphaModFix/>
          </a:blip>
          <a:srcRect b="35429" l="0" r="51821" t="0"/>
          <a:stretch/>
        </p:blipFill>
        <p:spPr>
          <a:xfrm>
            <a:off x="1920923" y="1244875"/>
            <a:ext cx="5302174" cy="326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1"/>
          <p:cNvSpPr/>
          <p:nvPr/>
        </p:nvSpPr>
        <p:spPr>
          <a:xfrm>
            <a:off x="2725488" y="4646250"/>
            <a:ext cx="3693000" cy="3573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Average"/>
                <a:ea typeface="Average"/>
                <a:cs typeface="Average"/>
                <a:sym typeface="Average"/>
              </a:rPr>
              <a:t>Window-&gt;Asset Management-&gt;Addressables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>
            <p:ph type="title"/>
          </p:nvPr>
        </p:nvSpPr>
        <p:spPr>
          <a:xfrm>
            <a:off x="311700" y="431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Addressables - Groups</a:t>
            </a:r>
            <a:endParaRPr/>
          </a:p>
        </p:txBody>
      </p:sp>
      <p:pic>
        <p:nvPicPr>
          <p:cNvPr id="180" name="Google Shape;18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7600" y="1102475"/>
            <a:ext cx="5748806" cy="3834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/>
          <p:nvPr>
            <p:ph type="title"/>
          </p:nvPr>
        </p:nvSpPr>
        <p:spPr>
          <a:xfrm>
            <a:off x="311700" y="431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Addressables - </a:t>
            </a:r>
            <a:r>
              <a:rPr lang="ca"/>
              <a:t>Define content loadout strategy</a:t>
            </a:r>
            <a:endParaRPr/>
          </a:p>
        </p:txBody>
      </p:sp>
      <p:pic>
        <p:nvPicPr>
          <p:cNvPr id="186" name="Google Shape;18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7599" y="1165398"/>
            <a:ext cx="5748800" cy="377130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3"/>
          <p:cNvSpPr/>
          <p:nvPr/>
        </p:nvSpPr>
        <p:spPr>
          <a:xfrm>
            <a:off x="1795825" y="1507325"/>
            <a:ext cx="2273700" cy="11421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Average"/>
                <a:ea typeface="Average"/>
                <a:cs typeface="Average"/>
                <a:sym typeface="Average"/>
              </a:rPr>
              <a:t>Remember that Unity always requires to have at least ONE scene in the build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4"/>
          <p:cNvSpPr txBox="1"/>
          <p:nvPr>
            <p:ph type="title"/>
          </p:nvPr>
        </p:nvSpPr>
        <p:spPr>
          <a:xfrm>
            <a:off x="311700" y="431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Addressables - Asset References</a:t>
            </a:r>
            <a:endParaRPr/>
          </a:p>
        </p:txBody>
      </p:sp>
      <p:pic>
        <p:nvPicPr>
          <p:cNvPr id="193" name="Google Shape;19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8525" y="1136575"/>
            <a:ext cx="4152000" cy="2266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4"/>
          <p:cNvPicPr preferRelativeResize="0"/>
          <p:nvPr/>
        </p:nvPicPr>
        <p:blipFill rotWithShape="1">
          <a:blip r:embed="rId4">
            <a:alphaModFix/>
          </a:blip>
          <a:srcRect b="0" l="36952" r="0" t="0"/>
          <a:stretch/>
        </p:blipFill>
        <p:spPr>
          <a:xfrm>
            <a:off x="1108050" y="3734600"/>
            <a:ext cx="5572951" cy="30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4"/>
          <p:cNvPicPr preferRelativeResize="0"/>
          <p:nvPr/>
        </p:nvPicPr>
        <p:blipFill rotWithShape="1">
          <a:blip r:embed="rId4">
            <a:alphaModFix/>
          </a:blip>
          <a:srcRect b="0" l="0" r="63629" t="0"/>
          <a:stretch/>
        </p:blipFill>
        <p:spPr>
          <a:xfrm>
            <a:off x="1108050" y="4040000"/>
            <a:ext cx="3214849" cy="30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4"/>
          <p:cNvSpPr/>
          <p:nvPr/>
        </p:nvSpPr>
        <p:spPr>
          <a:xfrm>
            <a:off x="5679600" y="4560775"/>
            <a:ext cx="3152400" cy="3573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Average"/>
                <a:ea typeface="Average"/>
                <a:cs typeface="Average"/>
                <a:sym typeface="Average"/>
              </a:rPr>
              <a:t>They are the “promise” of a reference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5"/>
          <p:cNvSpPr txBox="1"/>
          <p:nvPr>
            <p:ph type="title"/>
          </p:nvPr>
        </p:nvSpPr>
        <p:spPr>
          <a:xfrm>
            <a:off x="311700" y="431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Addressables - Asset Duplication</a:t>
            </a:r>
            <a:endParaRPr/>
          </a:p>
        </p:txBody>
      </p:sp>
      <p:pic>
        <p:nvPicPr>
          <p:cNvPr id="202" name="Google Shape;20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8213" y="1004475"/>
            <a:ext cx="4547569" cy="383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6"/>
          <p:cNvSpPr txBox="1"/>
          <p:nvPr>
            <p:ph type="title"/>
          </p:nvPr>
        </p:nvSpPr>
        <p:spPr>
          <a:xfrm>
            <a:off x="311700" y="431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Addressables - Asset Duplication</a:t>
            </a:r>
            <a:endParaRPr/>
          </a:p>
        </p:txBody>
      </p:sp>
      <p:pic>
        <p:nvPicPr>
          <p:cNvPr id="208" name="Google Shape;20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2050" y="1149100"/>
            <a:ext cx="3419892" cy="383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7"/>
          <p:cNvSpPr txBox="1"/>
          <p:nvPr>
            <p:ph type="title"/>
          </p:nvPr>
        </p:nvSpPr>
        <p:spPr>
          <a:xfrm>
            <a:off x="311700" y="431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Addressables - Asset Duplication</a:t>
            </a:r>
            <a:endParaRPr/>
          </a:p>
        </p:txBody>
      </p:sp>
      <p:pic>
        <p:nvPicPr>
          <p:cNvPr id="214" name="Google Shape;21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7325" y="1071400"/>
            <a:ext cx="3849340" cy="3834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8"/>
          <p:cNvSpPr txBox="1"/>
          <p:nvPr>
            <p:ph type="title"/>
          </p:nvPr>
        </p:nvSpPr>
        <p:spPr>
          <a:xfrm>
            <a:off x="311700" y="431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Useful links to learn deeper about the subject:</a:t>
            </a:r>
            <a:endParaRPr/>
          </a:p>
        </p:txBody>
      </p:sp>
      <p:sp>
        <p:nvSpPr>
          <p:cNvPr id="220" name="Google Shape;220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Documentation: </a:t>
            </a:r>
            <a:r>
              <a:rPr lang="ca" u="sng">
                <a:solidFill>
                  <a:schemeClr val="hlink"/>
                </a:solidFill>
                <a:hlinkClick r:id="rId3"/>
              </a:rPr>
              <a:t>https://docs.unity3d.com/Manual/AssetBundlesIntro.html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Advanced notes</a:t>
            </a:r>
            <a:r>
              <a:rPr lang="ca"/>
              <a:t>: </a:t>
            </a:r>
            <a:r>
              <a:rPr lang="ca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https://learn.unity.com/tutorial/assets-resources-and-assetbundles#5c7f8528edbc2a002053b5a8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-"/>
            </a:pPr>
            <a:r>
              <a:rPr lang="ca"/>
              <a:t>Projects Samples: </a:t>
            </a:r>
            <a:r>
              <a:rPr lang="ca" u="sng">
                <a:solidFill>
                  <a:schemeClr val="hlink"/>
                </a:solidFill>
                <a:hlinkClick r:id="rId5"/>
              </a:rPr>
              <a:t>https://github.com/Unity-Technologies/Addressables-Sample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9"/>
          <p:cNvSpPr txBox="1"/>
          <p:nvPr>
            <p:ph type="title"/>
          </p:nvPr>
        </p:nvSpPr>
        <p:spPr>
          <a:xfrm>
            <a:off x="311700" y="431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Exercise together</a:t>
            </a:r>
            <a:endParaRPr/>
          </a:p>
        </p:txBody>
      </p:sp>
      <p:sp>
        <p:nvSpPr>
          <p:cNvPr id="226" name="Google Shape;226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Create two scripts: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AutoNum type="alphaLcPeriod"/>
            </a:pPr>
            <a:r>
              <a:rPr lang="ca"/>
              <a:t>Spawner, Mono Script to spawn a cube prefab once a button is pressed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ca"/>
              <a:t>SelfDestruct, Mono Script attached to the cube, that will destroy the cube after 2s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-"/>
            </a:pPr>
            <a:r>
              <a:rPr lang="ca"/>
              <a:t>Try to achieve the same behaviour, but now using Addressables, profiling the load/unload of items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