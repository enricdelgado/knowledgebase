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Average"/>
      <p:regular r:id="rId25"/>
    </p:embeddedFont>
    <p:embeddedFont>
      <p:font typeface="Oswa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swald-regular.fntdata"/><Relationship Id="rId25" Type="http://schemas.openxmlformats.org/officeDocument/2006/relationships/font" Target="fonts/Average-regular.fntdata"/><Relationship Id="rId27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1367bdbf0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1367bdbf0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189c7a850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189c7a850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89c7a850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189c7a850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89c7a850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189c7a850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189c7a850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189c7a850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189c7a850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189c7a850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976f3c4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1976f3c4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d611f3c2b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d611f3c2b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d611f3c2b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d611f3c2b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19cab95fe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19cab95fe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19cab95fe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19cab95fe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1f4f4b9a7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1f4f4b9a7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1a0bacd3d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1a0bacd3d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1a0bacd3d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1a0bacd3d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1a0bacd3d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1a0bacd3d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1f4f4b9a7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1f4f4b9a7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1a0bacd3d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1a0bacd3d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1f4f4b9a7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1f4f4b9a7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13.png"/><Relationship Id="rId8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11" Type="http://schemas.openxmlformats.org/officeDocument/2006/relationships/image" Target="../media/image22.png"/><Relationship Id="rId10" Type="http://schemas.openxmlformats.org/officeDocument/2006/relationships/image" Target="../media/image19.png"/><Relationship Id="rId9" Type="http://schemas.openxmlformats.org/officeDocument/2006/relationships/image" Target="../media/image21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16.png"/><Relationship Id="rId8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Relationship Id="rId4" Type="http://schemas.openxmlformats.org/officeDocument/2006/relationships/image" Target="../media/image20.png"/><Relationship Id="rId5" Type="http://schemas.openxmlformats.org/officeDocument/2006/relationships/image" Target="../media/image30.png"/><Relationship Id="rId6" Type="http://schemas.openxmlformats.org/officeDocument/2006/relationships/image" Target="../media/image26.png"/><Relationship Id="rId7" Type="http://schemas.openxmlformats.org/officeDocument/2006/relationships/image" Target="../media/image28.png"/><Relationship Id="rId8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Relationship Id="rId4" Type="http://schemas.openxmlformats.org/officeDocument/2006/relationships/image" Target="../media/image29.png"/><Relationship Id="rId5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Relationship Id="rId4" Type="http://schemas.openxmlformats.org/officeDocument/2006/relationships/image" Target="../media/image3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ithub.com/modesttree/Zenject" TargetMode="External"/><Relationship Id="rId4" Type="http://schemas.openxmlformats.org/officeDocument/2006/relationships/hyperlink" Target="https://github.com/hadashiA/VContainer" TargetMode="External"/><Relationship Id="rId5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SOLID + DI + IoC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Advanced Unity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Content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SOLID</a:t>
            </a:r>
            <a:r>
              <a:rPr lang="ca"/>
              <a:t>.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ca" sz="2150"/>
              <a:t>S</a:t>
            </a:r>
            <a:r>
              <a:rPr lang="ca" sz="1600"/>
              <a:t>RP</a:t>
            </a:r>
            <a:r>
              <a:rPr lang="ca"/>
              <a:t> : Single </a:t>
            </a:r>
            <a:r>
              <a:rPr lang="ca"/>
              <a:t>Responsibility</a:t>
            </a:r>
            <a:r>
              <a:rPr lang="ca"/>
              <a:t> Principle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ca" sz="2150"/>
              <a:t>O</a:t>
            </a:r>
            <a:r>
              <a:rPr lang="ca" sz="1600"/>
              <a:t>CP</a:t>
            </a:r>
            <a:r>
              <a:rPr lang="ca"/>
              <a:t> : Open/Closed Principle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ca" sz="2124"/>
              <a:t>L</a:t>
            </a:r>
            <a:r>
              <a:rPr lang="ca" sz="1600"/>
              <a:t>SP</a:t>
            </a:r>
            <a:r>
              <a:rPr lang="ca"/>
              <a:t> : Liskov Substitution Principle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ca" sz="2124"/>
              <a:t>I</a:t>
            </a:r>
            <a:r>
              <a:rPr lang="ca" sz="1600"/>
              <a:t>SP </a:t>
            </a:r>
            <a:r>
              <a:rPr lang="ca"/>
              <a:t>: Interface Segregation Principle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ca" sz="2100"/>
              <a:t>D</a:t>
            </a:r>
            <a:r>
              <a:rPr lang="ca" sz="1600"/>
              <a:t>IP</a:t>
            </a:r>
            <a:r>
              <a:rPr lang="ca"/>
              <a:t> : Dependency Inversion Principle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IoC : Inversion of Control.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DI : Dependency Injection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SOLID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27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It represents five basic principles of object-oriented programming and design.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It makes a system that is easy to maintain and expand over time.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Makes code more readable and extensive, reducing future refactorings.</a:t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9074" y="3742100"/>
            <a:ext cx="1894925" cy="140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218600" y="421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/>
              <a:t>S</a:t>
            </a:r>
            <a:r>
              <a:rPr lang="ca" sz="2777"/>
              <a:t>RP</a:t>
            </a:r>
            <a:r>
              <a:rPr lang="ca"/>
              <a:t>: Single </a:t>
            </a:r>
            <a:r>
              <a:rPr lang="ca"/>
              <a:t>Responsibility</a:t>
            </a:r>
            <a:r>
              <a:rPr lang="ca"/>
              <a:t> Principle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Each class should have only 1 responsibility and 1 reason for change.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Facilitates:</a:t>
            </a:r>
            <a:endParaRPr/>
          </a:p>
          <a:p>
            <a:pPr indent="-334327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ca"/>
              <a:t>Smaller, more readable classes.</a:t>
            </a:r>
            <a:endParaRPr/>
          </a:p>
          <a:p>
            <a:pPr indent="-334327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ca"/>
              <a:t>Less coupled functionality.</a:t>
            </a:r>
            <a:endParaRPr/>
          </a:p>
          <a:p>
            <a:pPr indent="-334327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ca"/>
              <a:t>Reusability of functionality. 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Reduces:</a:t>
            </a:r>
            <a:endParaRPr/>
          </a:p>
          <a:p>
            <a:pPr indent="-334327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ca"/>
              <a:t>Collateral damage when modifying code.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3051" y="2327275"/>
            <a:ext cx="3372877" cy="2023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/>
              <a:t>S</a:t>
            </a:r>
            <a:r>
              <a:rPr lang="ca" sz="2777"/>
              <a:t>RP</a:t>
            </a:r>
            <a:r>
              <a:rPr lang="ca"/>
              <a:t>: Single Responsibility Principle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838" y="712925"/>
            <a:ext cx="8082325" cy="4252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" name="Google Shape;87;p17"/>
          <p:cNvCxnSpPr/>
          <p:nvPr/>
        </p:nvCxnSpPr>
        <p:spPr>
          <a:xfrm>
            <a:off x="2273075" y="837850"/>
            <a:ext cx="3219600" cy="7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7"/>
          <p:cNvCxnSpPr/>
          <p:nvPr/>
        </p:nvCxnSpPr>
        <p:spPr>
          <a:xfrm>
            <a:off x="2234275" y="2567875"/>
            <a:ext cx="1497300" cy="1629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7"/>
          <p:cNvCxnSpPr/>
          <p:nvPr/>
        </p:nvCxnSpPr>
        <p:spPr>
          <a:xfrm>
            <a:off x="2885950" y="3762600"/>
            <a:ext cx="822300" cy="403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" name="Google Shape;90;p17"/>
          <p:cNvCxnSpPr/>
          <p:nvPr/>
        </p:nvCxnSpPr>
        <p:spPr>
          <a:xfrm flipH="1" rot="10800000">
            <a:off x="2800600" y="4515075"/>
            <a:ext cx="4018500" cy="116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/>
              <a:t>O</a:t>
            </a:r>
            <a:r>
              <a:rPr lang="ca" sz="2777"/>
              <a:t>CP</a:t>
            </a:r>
            <a:r>
              <a:rPr lang="ca"/>
              <a:t> : Open/Closed Principle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152475"/>
            <a:ext cx="7888500" cy="3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178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25"/>
              <a:buChar char="-"/>
            </a:pPr>
            <a:r>
              <a:rPr lang="ca" sz="1625"/>
              <a:t>Open to extension: The system can grow without modifying existing code.</a:t>
            </a:r>
            <a:endParaRPr sz="1625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625"/>
          </a:p>
          <a:p>
            <a:pPr indent="-33178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25"/>
              <a:buChar char="-"/>
            </a:pPr>
            <a:r>
              <a:rPr lang="ca" sz="1625"/>
              <a:t>Closed to modification: The base class remains unchanged.</a:t>
            </a:r>
            <a:endParaRPr sz="1625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625"/>
          </a:p>
          <a:p>
            <a:pPr indent="-33178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25"/>
              <a:buChar char="-"/>
            </a:pPr>
            <a:r>
              <a:rPr lang="ca" sz="1625"/>
              <a:t>Facilitates:</a:t>
            </a:r>
            <a:endParaRPr sz="1625"/>
          </a:p>
          <a:p>
            <a:pPr indent="-331787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25"/>
              <a:buChar char="●"/>
            </a:pPr>
            <a:r>
              <a:rPr lang="ca" sz="1625"/>
              <a:t>Expansion without affecting the current system.</a:t>
            </a:r>
            <a:endParaRPr sz="1625"/>
          </a:p>
          <a:p>
            <a:pPr indent="0" lvl="0" marL="13716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625"/>
          </a:p>
          <a:p>
            <a:pPr indent="-33178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25"/>
              <a:buChar char="-"/>
            </a:pPr>
            <a:r>
              <a:rPr lang="ca" sz="1625"/>
              <a:t>Reduces:</a:t>
            </a:r>
            <a:endParaRPr sz="1625"/>
          </a:p>
          <a:p>
            <a:pPr indent="-331787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25"/>
              <a:buChar char="●"/>
            </a:pPr>
            <a:r>
              <a:rPr lang="ca" sz="1625"/>
              <a:t>Switch and huge enumerations.</a:t>
            </a:r>
            <a:endParaRPr sz="1625"/>
          </a:p>
          <a:p>
            <a:pPr indent="-331787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25"/>
              <a:buChar char="●"/>
            </a:pPr>
            <a:r>
              <a:rPr lang="ca" sz="1625"/>
              <a:t>Cascading changes when adding functionality.</a:t>
            </a:r>
            <a:endParaRPr sz="1625"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8600" y="3438275"/>
            <a:ext cx="3407001" cy="149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/>
              <a:t>O</a:t>
            </a:r>
            <a:r>
              <a:rPr lang="ca" sz="2777"/>
              <a:t>CP</a:t>
            </a:r>
            <a:r>
              <a:rPr lang="ca"/>
              <a:t> : Open/Closed Principle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700" y="759600"/>
            <a:ext cx="7372601" cy="4305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" name="Google Shape;104;p19"/>
          <p:cNvCxnSpPr/>
          <p:nvPr/>
        </p:nvCxnSpPr>
        <p:spPr>
          <a:xfrm flipH="1" rot="10800000">
            <a:off x="6036425" y="4014300"/>
            <a:ext cx="472200" cy="302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" name="Google Shape;105;p19"/>
          <p:cNvCxnSpPr/>
          <p:nvPr/>
        </p:nvCxnSpPr>
        <p:spPr>
          <a:xfrm>
            <a:off x="2811575" y="2996075"/>
            <a:ext cx="664200" cy="760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" name="Google Shape;106;p19"/>
          <p:cNvCxnSpPr/>
          <p:nvPr/>
        </p:nvCxnSpPr>
        <p:spPr>
          <a:xfrm>
            <a:off x="2494275" y="2147425"/>
            <a:ext cx="944700" cy="2730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" name="Google Shape;107;p19"/>
          <p:cNvCxnSpPr/>
          <p:nvPr/>
        </p:nvCxnSpPr>
        <p:spPr>
          <a:xfrm flipH="1">
            <a:off x="4634425" y="826500"/>
            <a:ext cx="929700" cy="5460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/>
              <a:t>L</a:t>
            </a:r>
            <a:r>
              <a:rPr lang="ca" sz="2777"/>
              <a:t>SP</a:t>
            </a:r>
            <a:r>
              <a:rPr lang="ca"/>
              <a:t> : Liskov Substitution Principle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700" y="923875"/>
            <a:ext cx="6510000" cy="3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Facilitates:</a:t>
            </a:r>
            <a:endParaRPr/>
          </a:p>
          <a:p>
            <a:pPr indent="-334327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ca"/>
              <a:t>Objects can be replaced by instances of their subclasses without causing the program to crash.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Reduces:</a:t>
            </a:r>
            <a:endParaRPr/>
          </a:p>
          <a:p>
            <a:pPr indent="-334327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ca"/>
              <a:t>Avoid silent errors, where the program does not stop but works incorrectly.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Considerations:</a:t>
            </a:r>
            <a:endParaRPr/>
          </a:p>
          <a:p>
            <a:pPr indent="-334327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ca"/>
              <a:t>Ask yourself whether inheritance is the best option or whether composition would be more appropriate.</a:t>
            </a:r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7125" y="3434175"/>
            <a:ext cx="2687900" cy="148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/>
          <p:nvPr/>
        </p:nvSpPr>
        <p:spPr>
          <a:xfrm>
            <a:off x="1025750" y="590350"/>
            <a:ext cx="7490100" cy="4184100"/>
          </a:xfrm>
          <a:prstGeom prst="rect">
            <a:avLst/>
          </a:prstGeom>
          <a:solidFill>
            <a:srgbClr val="C3C3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/>
              <a:t>L</a:t>
            </a:r>
            <a:r>
              <a:rPr lang="ca" sz="2777"/>
              <a:t>SP</a:t>
            </a:r>
            <a:r>
              <a:rPr lang="ca"/>
              <a:t> : Liskov Substitution Principle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200" y="712925"/>
            <a:ext cx="2089225" cy="16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9200" y="3849475"/>
            <a:ext cx="2089225" cy="771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4625" y="1211650"/>
            <a:ext cx="156210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22725" y="946725"/>
            <a:ext cx="2073950" cy="1148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38025" y="2388991"/>
            <a:ext cx="2073950" cy="1344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5087" y="3849475"/>
            <a:ext cx="2089225" cy="771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19200" y="2388975"/>
            <a:ext cx="2089250" cy="133418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128;p21"/>
          <p:cNvCxnSpPr/>
          <p:nvPr/>
        </p:nvCxnSpPr>
        <p:spPr>
          <a:xfrm flipH="1">
            <a:off x="5674725" y="1911275"/>
            <a:ext cx="1439100" cy="442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/>
              <a:t>I</a:t>
            </a:r>
            <a:r>
              <a:rPr lang="ca" sz="2777"/>
              <a:t>SP</a:t>
            </a:r>
            <a:r>
              <a:rPr lang="ca"/>
              <a:t> : Interface Segregation Principle</a:t>
            </a:r>
            <a:endParaRPr/>
          </a:p>
        </p:txBody>
      </p:sp>
      <p:sp>
        <p:nvSpPr>
          <p:cNvPr id="134" name="Google Shape;134;p22"/>
          <p:cNvSpPr txBox="1"/>
          <p:nvPr>
            <p:ph idx="1" type="body"/>
          </p:nvPr>
        </p:nvSpPr>
        <p:spPr>
          <a:xfrm>
            <a:off x="311700" y="1152475"/>
            <a:ext cx="85206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Many specific client interfaces are better than one general purpose interface.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Clients should not be forced to depend upon interfaces that they don’t use.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Facilitates:</a:t>
            </a:r>
            <a:endParaRPr/>
          </a:p>
          <a:p>
            <a:pPr indent="-317182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ca"/>
              <a:t>Clear interfaces for each consumer.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Reduces:</a:t>
            </a:r>
            <a:endParaRPr/>
          </a:p>
          <a:p>
            <a:pPr indent="-317182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ca"/>
              <a:t>Reliance on unnecessary methods.</a:t>
            </a:r>
            <a:endParaRPr/>
          </a:p>
          <a:p>
            <a:pPr indent="-317182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ca"/>
              <a:t>Errors when using functionalities that do not correspond.</a:t>
            </a:r>
            <a:endParaRPr/>
          </a:p>
        </p:txBody>
      </p:sp>
      <p:pic>
        <p:nvPicPr>
          <p:cNvPr id="135" name="Google Shape;13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6025" y="3865677"/>
            <a:ext cx="4249126" cy="12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/>
          <p:nvPr/>
        </p:nvSpPr>
        <p:spPr>
          <a:xfrm>
            <a:off x="29525" y="479700"/>
            <a:ext cx="9074100" cy="4634400"/>
          </a:xfrm>
          <a:prstGeom prst="rect">
            <a:avLst/>
          </a:prstGeom>
          <a:solidFill>
            <a:srgbClr val="C3C3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41" name="Google Shape;141;p2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/>
              <a:t>I</a:t>
            </a:r>
            <a:r>
              <a:rPr lang="ca" sz="2777"/>
              <a:t>SP</a:t>
            </a:r>
            <a:r>
              <a:rPr lang="ca"/>
              <a:t> : Interface Segregation Principle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142" name="Google Shape;1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9175" y="512375"/>
            <a:ext cx="1352914" cy="44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8950" y="560525"/>
            <a:ext cx="1636854" cy="44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36324" y="847425"/>
            <a:ext cx="3045375" cy="258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56250" y="3491125"/>
            <a:ext cx="2171200" cy="158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42401" y="3491125"/>
            <a:ext cx="2456650" cy="15071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23"/>
          <p:cNvCxnSpPr/>
          <p:nvPr/>
        </p:nvCxnSpPr>
        <p:spPr>
          <a:xfrm>
            <a:off x="3977550" y="612500"/>
            <a:ext cx="2745300" cy="206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23"/>
          <p:cNvCxnSpPr/>
          <p:nvPr/>
        </p:nvCxnSpPr>
        <p:spPr>
          <a:xfrm flipH="1">
            <a:off x="7158000" y="634625"/>
            <a:ext cx="1254600" cy="184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23"/>
          <p:cNvCxnSpPr/>
          <p:nvPr/>
        </p:nvCxnSpPr>
        <p:spPr>
          <a:xfrm flipH="1">
            <a:off x="7172950" y="686300"/>
            <a:ext cx="1372500" cy="2988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23"/>
          <p:cNvCxnSpPr/>
          <p:nvPr/>
        </p:nvCxnSpPr>
        <p:spPr>
          <a:xfrm>
            <a:off x="3756150" y="671525"/>
            <a:ext cx="819000" cy="29739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51" name="Google Shape;151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8550" y="560525"/>
            <a:ext cx="1696850" cy="63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2875" y="1274075"/>
            <a:ext cx="2456649" cy="21224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" name="Google Shape;153;p23"/>
          <p:cNvCxnSpPr/>
          <p:nvPr/>
        </p:nvCxnSpPr>
        <p:spPr>
          <a:xfrm>
            <a:off x="1357825" y="671525"/>
            <a:ext cx="561000" cy="568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54" name="Google Shape;154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2875" y="3475126"/>
            <a:ext cx="1951184" cy="1587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23"/>
          <p:cNvCxnSpPr/>
          <p:nvPr/>
        </p:nvCxnSpPr>
        <p:spPr>
          <a:xfrm flipH="1">
            <a:off x="563125" y="683875"/>
            <a:ext cx="723300" cy="2944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56" name="Google Shape;156;p2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158418" y="3475124"/>
            <a:ext cx="2032582" cy="1587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23"/>
          <p:cNvCxnSpPr/>
          <p:nvPr/>
        </p:nvCxnSpPr>
        <p:spPr>
          <a:xfrm>
            <a:off x="1328300" y="686300"/>
            <a:ext cx="1143900" cy="2922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/>
              <a:t>D</a:t>
            </a:r>
            <a:r>
              <a:rPr lang="ca" sz="2777"/>
              <a:t>IP</a:t>
            </a:r>
            <a:r>
              <a:rPr lang="ca"/>
              <a:t> : Dependency Inversion Principle</a:t>
            </a:r>
            <a:endParaRPr/>
          </a:p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Proposes using abstractions (interfaces, abstract classes) instead of concrete details.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Facilitates:</a:t>
            </a:r>
            <a:endParaRPr/>
          </a:p>
          <a:p>
            <a:pPr indent="-334327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ca"/>
              <a:t>Changes and new behaviors without modifying the consumer.</a:t>
            </a:r>
            <a:endParaRPr/>
          </a:p>
          <a:p>
            <a:pPr indent="-334327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ca"/>
              <a:t>Division of labor between programmers.</a:t>
            </a:r>
            <a:endParaRPr/>
          </a:p>
          <a:p>
            <a:pPr indent="-334327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ca"/>
              <a:t>More testable classes with mocks.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Reduces:</a:t>
            </a:r>
            <a:endParaRPr/>
          </a:p>
          <a:p>
            <a:pPr indent="-334327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ca"/>
              <a:t>Dependence on specific details.</a:t>
            </a:r>
            <a:endParaRPr/>
          </a:p>
          <a:p>
            <a:pPr indent="-334327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ca"/>
              <a:t>Coupling between modules.</a:t>
            </a:r>
            <a:endParaRPr/>
          </a:p>
        </p:txBody>
      </p:sp>
      <p:pic>
        <p:nvPicPr>
          <p:cNvPr id="164" name="Google Shape;1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5775" y="2740200"/>
            <a:ext cx="2998226" cy="240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/>
              <a:t>D</a:t>
            </a:r>
            <a:r>
              <a:rPr lang="ca" sz="2777"/>
              <a:t>IP</a:t>
            </a:r>
            <a:r>
              <a:rPr lang="ca"/>
              <a:t> : Dependency Inversion Principle</a:t>
            </a:r>
            <a:endParaRPr/>
          </a:p>
        </p:txBody>
      </p:sp>
      <p:pic>
        <p:nvPicPr>
          <p:cNvPr id="170" name="Google Shape;17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5575" y="1017725"/>
            <a:ext cx="679284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/>
          <p:nvPr/>
        </p:nvSpPr>
        <p:spPr>
          <a:xfrm>
            <a:off x="29525" y="479700"/>
            <a:ext cx="9003000" cy="4626900"/>
          </a:xfrm>
          <a:prstGeom prst="rect">
            <a:avLst/>
          </a:prstGeom>
          <a:solidFill>
            <a:srgbClr val="C3C3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76" name="Google Shape;176;p2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/>
              <a:t>D</a:t>
            </a:r>
            <a:r>
              <a:rPr lang="ca" sz="2777"/>
              <a:t>IP</a:t>
            </a:r>
            <a:r>
              <a:rPr lang="ca"/>
              <a:t> : Dependency Inversion Principle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177" name="Google Shape;17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560525"/>
            <a:ext cx="3295798" cy="420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4400" y="560525"/>
            <a:ext cx="3240275" cy="275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3525" y="3422975"/>
            <a:ext cx="1712625" cy="4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57761" y="4228675"/>
            <a:ext cx="1677525" cy="82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25475" y="3613981"/>
            <a:ext cx="2066775" cy="145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21025" y="4019151"/>
            <a:ext cx="1618712" cy="10466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26"/>
          <p:cNvCxnSpPr/>
          <p:nvPr/>
        </p:nvCxnSpPr>
        <p:spPr>
          <a:xfrm rot="10800000">
            <a:off x="4449750" y="1077475"/>
            <a:ext cx="1107000" cy="2346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p26"/>
          <p:cNvCxnSpPr/>
          <p:nvPr/>
        </p:nvCxnSpPr>
        <p:spPr>
          <a:xfrm flipH="1">
            <a:off x="4095525" y="3534775"/>
            <a:ext cx="1402200" cy="797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26"/>
          <p:cNvCxnSpPr/>
          <p:nvPr/>
        </p:nvCxnSpPr>
        <p:spPr>
          <a:xfrm>
            <a:off x="5586275" y="3542150"/>
            <a:ext cx="162300" cy="57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26"/>
          <p:cNvCxnSpPr/>
          <p:nvPr/>
        </p:nvCxnSpPr>
        <p:spPr>
          <a:xfrm>
            <a:off x="5792900" y="3549525"/>
            <a:ext cx="1276800" cy="1770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7" name="Google Shape;187;p26"/>
          <p:cNvSpPr/>
          <p:nvPr/>
        </p:nvSpPr>
        <p:spPr>
          <a:xfrm>
            <a:off x="6981000" y="1593900"/>
            <a:ext cx="1918500" cy="767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88" name="Google Shape;188;p26"/>
          <p:cNvCxnSpPr/>
          <p:nvPr/>
        </p:nvCxnSpPr>
        <p:spPr>
          <a:xfrm>
            <a:off x="6117600" y="1992450"/>
            <a:ext cx="8634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" name="Google Shape;189;p26"/>
          <p:cNvSpPr txBox="1"/>
          <p:nvPr/>
        </p:nvSpPr>
        <p:spPr>
          <a:xfrm>
            <a:off x="7069550" y="1675150"/>
            <a:ext cx="1830000" cy="8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Here we must inject the dependencies.</a:t>
            </a:r>
            <a:endParaRPr sz="12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IoC : Inversion of Control </a:t>
            </a:r>
            <a:endParaRPr/>
          </a:p>
        </p:txBody>
      </p:sp>
      <p:sp>
        <p:nvSpPr>
          <p:cNvPr id="195" name="Google Shape;19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“</a:t>
            </a:r>
            <a:r>
              <a:rPr lang="ca"/>
              <a:t>Don't call us, we'll call you.”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Delegate the logic to another subsystem.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Instead of calling a library, the library invokes the client code.</a:t>
            </a:r>
            <a:endParaRPr/>
          </a:p>
        </p:txBody>
      </p:sp>
      <p:pic>
        <p:nvPicPr>
          <p:cNvPr id="196" name="Google Shape;19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9375" y="3505275"/>
            <a:ext cx="2085676" cy="156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/>
          <p:nvPr/>
        </p:nvSpPr>
        <p:spPr>
          <a:xfrm>
            <a:off x="504050" y="479700"/>
            <a:ext cx="7903500" cy="4553100"/>
          </a:xfrm>
          <a:prstGeom prst="rect">
            <a:avLst/>
          </a:prstGeom>
          <a:solidFill>
            <a:srgbClr val="C3C3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2" name="Google Shape;202;p2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IoC : Inversion of Control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1551125"/>
            <a:ext cx="3648025" cy="176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5475" y="2892525"/>
            <a:ext cx="2620800" cy="2023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95475" y="613125"/>
            <a:ext cx="2620800" cy="2111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p28"/>
          <p:cNvCxnSpPr/>
          <p:nvPr/>
        </p:nvCxnSpPr>
        <p:spPr>
          <a:xfrm flipH="1" rot="10800000">
            <a:off x="2486875" y="2066175"/>
            <a:ext cx="3933300" cy="280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" name="Google Shape;207;p28"/>
          <p:cNvCxnSpPr/>
          <p:nvPr/>
        </p:nvCxnSpPr>
        <p:spPr>
          <a:xfrm flipH="1" rot="10800000">
            <a:off x="4294850" y="2309875"/>
            <a:ext cx="1549800" cy="472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" name="Google Shape;208;p28"/>
          <p:cNvCxnSpPr/>
          <p:nvPr/>
        </p:nvCxnSpPr>
        <p:spPr>
          <a:xfrm>
            <a:off x="3734025" y="2929650"/>
            <a:ext cx="2177100" cy="1660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DI - Dependency Injection</a:t>
            </a:r>
            <a:endParaRPr/>
          </a:p>
        </p:txBody>
      </p:sp>
      <p:sp>
        <p:nvSpPr>
          <p:cNvPr id="214" name="Google Shape;214;p29"/>
          <p:cNvSpPr txBox="1"/>
          <p:nvPr>
            <p:ph idx="1" type="body"/>
          </p:nvPr>
        </p:nvSpPr>
        <p:spPr>
          <a:xfrm>
            <a:off x="311700" y="1152475"/>
            <a:ext cx="4412400" cy="27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IoC Frameworks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Passing dependencies through the constructor or through a configuration function.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That way everybody knows what dependencies they have from the rest of the system.</a:t>
            </a:r>
            <a:endParaRPr/>
          </a:p>
        </p:txBody>
      </p:sp>
      <p:pic>
        <p:nvPicPr>
          <p:cNvPr id="215" name="Google Shape;21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3575" y="287250"/>
            <a:ext cx="2607875" cy="4693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/>
          <p:nvPr/>
        </p:nvSpPr>
        <p:spPr>
          <a:xfrm>
            <a:off x="311700" y="923875"/>
            <a:ext cx="8396100" cy="3586500"/>
          </a:xfrm>
          <a:prstGeom prst="rect">
            <a:avLst/>
          </a:prstGeom>
          <a:solidFill>
            <a:srgbClr val="C3C3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21" name="Google Shape;221;p3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DI - Dependency Injection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2" name="Google Shape;22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250" y="1034250"/>
            <a:ext cx="3943626" cy="335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8500" y="1034247"/>
            <a:ext cx="3864407" cy="3350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30"/>
          <p:cNvCxnSpPr/>
          <p:nvPr/>
        </p:nvCxnSpPr>
        <p:spPr>
          <a:xfrm flipH="1" rot="10800000">
            <a:off x="3534775" y="2451400"/>
            <a:ext cx="1424400" cy="332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/>
          <p:nvPr/>
        </p:nvSpPr>
        <p:spPr>
          <a:xfrm>
            <a:off x="5384350" y="2758225"/>
            <a:ext cx="3759600" cy="16083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30" name="Google Shape;23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DI - </a:t>
            </a:r>
            <a:r>
              <a:rPr lang="ca"/>
              <a:t>Dependency Injection + Unity</a:t>
            </a:r>
            <a:endParaRPr/>
          </a:p>
        </p:txBody>
      </p:sp>
      <p:sp>
        <p:nvSpPr>
          <p:cNvPr id="231" name="Google Shape;23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There are many frameworks to achieve DI in Unity: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Unity Editor Itself (Direct References)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Good for Open/Closed principle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Bad for Single Responsibility Principle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Mono-Dependant issues (lifecycle, can’t test, can’t bind interfaces…)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ca" u="sng">
                <a:solidFill>
                  <a:schemeClr val="hlink"/>
                </a:solidFill>
                <a:hlinkClick r:id="rId3"/>
              </a:rPr>
              <a:t>Zenject/Extenject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My favorite DI framework choice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Not easy for beginners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ca" u="sng">
                <a:solidFill>
                  <a:schemeClr val="hlink"/>
                </a:solidFill>
                <a:hlinkClick r:id="rId4"/>
              </a:rPr>
              <a:t>VContainer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Never used myself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On the benchmarks looks better than Zenject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Do not have so many functionalities as Zenject</a:t>
            </a:r>
            <a:endParaRPr/>
          </a:p>
        </p:txBody>
      </p:sp>
      <p:pic>
        <p:nvPicPr>
          <p:cNvPr id="232" name="Google Shape;23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6924" y="2727152"/>
            <a:ext cx="3564925" cy="170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