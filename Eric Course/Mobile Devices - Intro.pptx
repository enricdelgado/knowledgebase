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y="5143500" cx="9144000"/>
  <p:notesSz cx="6858000" cy="9144000"/>
  <p:embeddedFontLst>
    <p:embeddedFont>
      <p:font typeface="Average"/>
      <p:regular r:id="rId32"/>
    </p:embeddedFont>
    <p:embeddedFont>
      <p:font typeface="Oswald"/>
      <p:regular r:id="rId33"/>
      <p:bold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CE02229-3130-4492-B24B-D069ECD15094}">
  <a:tblStyle styleId="{2CE02229-3130-4492-B24B-D069ECD1509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Oswald-regular.fntdata"/><Relationship Id="rId10" Type="http://schemas.openxmlformats.org/officeDocument/2006/relationships/slide" Target="slides/slide4.xml"/><Relationship Id="rId32" Type="http://schemas.openxmlformats.org/officeDocument/2006/relationships/font" Target="fonts/Average-regular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schemas.openxmlformats.org/officeDocument/2006/relationships/font" Target="fonts/Oswald-bold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fd3fa70401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fd3fa70401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fd3fa70401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fd3fa70401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fd3fa70401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fd3fa70401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fd3fa70401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2fd3fa70401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fd3fa70401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fd3fa70401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fd3fa70401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fd3fa70401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fd3fa70401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2fd3fa70401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fd3fa70401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2fd3fa70401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fd3fa70401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2fd3fa70401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fd3fa70401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2fd3fa70401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fd3fa70401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2fd3fa70401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fd3fa70401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fd3fa70401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fd3fa70401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fd3fa70401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fd3fa70401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2fd3fa70401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fd3fa70401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2fd3fa70401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fd3fa70401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fd3fa70401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fd3fa70401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2fd3fa70401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fd3fa70401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2fd3fa70401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fd607be18d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2fd607be18d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fd3fa70401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2fd3fa70401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fd3fa70401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2fd3fa70401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2fd3fa70401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2fd3fa70401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fd927b0ecb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2fd927b0ec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fd3fa70401_0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2fd3fa70401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15.png"/><Relationship Id="rId6" Type="http://schemas.openxmlformats.org/officeDocument/2006/relationships/image" Target="../media/image2.png"/><Relationship Id="rId7" Type="http://schemas.openxmlformats.org/officeDocument/2006/relationships/image" Target="../media/image10.png"/><Relationship Id="rId8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16.png"/><Relationship Id="rId10" Type="http://schemas.openxmlformats.org/officeDocument/2006/relationships/image" Target="../media/image12.png"/><Relationship Id="rId9" Type="http://schemas.openxmlformats.org/officeDocument/2006/relationships/image" Target="../media/image5.png"/><Relationship Id="rId5" Type="http://schemas.openxmlformats.org/officeDocument/2006/relationships/image" Target="../media/image1.png"/><Relationship Id="rId6" Type="http://schemas.openxmlformats.org/officeDocument/2006/relationships/image" Target="../media/image18.png"/><Relationship Id="rId7" Type="http://schemas.openxmlformats.org/officeDocument/2006/relationships/image" Target="../media/image14.png"/><Relationship Id="rId8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learn.unity.com/pathway/unity-essentials?language=en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Mobile Devices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Intro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323425"/>
            <a:ext cx="8517000" cy="44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4100"/>
              <a:t>Hey, I’m</a:t>
            </a:r>
            <a:endParaRPr b="1" sz="4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6100"/>
              <a:t>Eric</a:t>
            </a:r>
            <a:endParaRPr b="1" sz="6100"/>
          </a:p>
        </p:txBody>
      </p:sp>
      <p:sp>
        <p:nvSpPr>
          <p:cNvPr id="66" name="Google Shape;66;p14"/>
          <p:cNvSpPr txBox="1"/>
          <p:nvPr/>
        </p:nvSpPr>
        <p:spPr>
          <a:xfrm>
            <a:off x="3210750" y="4285525"/>
            <a:ext cx="272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eric.batlle@citm.upc.edu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28875" y="1069800"/>
            <a:ext cx="2543175" cy="2543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3697200"/>
            <a:ext cx="3833778" cy="129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29325" y="487063"/>
            <a:ext cx="2543175" cy="2543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0350" y="721225"/>
            <a:ext cx="2713250" cy="207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183134" y="152400"/>
            <a:ext cx="2476365" cy="1293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642426" y="3697191"/>
            <a:ext cx="4230077" cy="13508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3" name="Google Shape;8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06856" y="0"/>
            <a:ext cx="4130288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311700" y="323425"/>
            <a:ext cx="8517000" cy="44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4100"/>
              <a:t>Why should I even care about developing games for…</a:t>
            </a:r>
            <a:endParaRPr b="1" sz="4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6100"/>
              <a:t>MOBILE</a:t>
            </a:r>
            <a:r>
              <a:rPr b="1" lang="ca" sz="6100"/>
              <a:t>?</a:t>
            </a:r>
            <a:endParaRPr b="1" sz="6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5" name="Google Shape;9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2625" y="0"/>
            <a:ext cx="8398749" cy="5519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311700" y="323425"/>
            <a:ext cx="8517000" cy="44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4100"/>
              <a:t>But I don’t care about money!</a:t>
            </a:r>
            <a:br>
              <a:rPr b="1" lang="ca" sz="4100"/>
            </a:br>
            <a:r>
              <a:rPr b="1" lang="ca" sz="4100"/>
              <a:t>I just want to make</a:t>
            </a:r>
            <a:endParaRPr b="1" sz="4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4100"/>
              <a:t> </a:t>
            </a:r>
            <a:r>
              <a:rPr b="1" lang="ca" sz="6100"/>
              <a:t>GREAT VIDEOGAMES!</a:t>
            </a:r>
            <a:endParaRPr b="1" sz="6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3814" y="3263428"/>
            <a:ext cx="1925725" cy="170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00201" y="152400"/>
            <a:ext cx="3759350" cy="2114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280133" y="2876475"/>
            <a:ext cx="3759334" cy="2114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2256" y="152400"/>
            <a:ext cx="1705294" cy="3031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514750" y="152400"/>
            <a:ext cx="3476851" cy="1955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608225" y="1559111"/>
            <a:ext cx="1383384" cy="2453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314170" y="3506323"/>
            <a:ext cx="2599554" cy="1466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21851" y="2411075"/>
            <a:ext cx="3268276" cy="151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/>
          <p:nvPr>
            <p:ph type="title"/>
          </p:nvPr>
        </p:nvSpPr>
        <p:spPr>
          <a:xfrm>
            <a:off x="311700" y="323425"/>
            <a:ext cx="8517000" cy="44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4100"/>
              <a:t>Whatever, I just want to work for </a:t>
            </a:r>
            <a:endParaRPr b="1" sz="4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4100"/>
              <a:t> </a:t>
            </a:r>
            <a:r>
              <a:rPr b="1" lang="ca" sz="6100"/>
              <a:t>MY FAVORITE COMPANIES!</a:t>
            </a:r>
            <a:endParaRPr b="1" sz="6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350" y="175139"/>
            <a:ext cx="8521308" cy="4793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/>
          <p:nvPr>
            <p:ph type="title"/>
          </p:nvPr>
        </p:nvSpPr>
        <p:spPr>
          <a:xfrm>
            <a:off x="311700" y="323425"/>
            <a:ext cx="8517000" cy="44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4100"/>
              <a:t>Oh… </a:t>
            </a:r>
            <a:endParaRPr b="1" sz="4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4100"/>
              <a:t>Then I’ll be an Indie dev and work for..</a:t>
            </a:r>
            <a:endParaRPr b="1" sz="4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4100"/>
              <a:t> </a:t>
            </a:r>
            <a:r>
              <a:rPr b="1" lang="ca" sz="6100"/>
              <a:t>MYSELF?</a:t>
            </a:r>
            <a:endParaRPr b="1" sz="6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5" name="Google Shape;135;p24"/>
          <p:cNvPicPr preferRelativeResize="0"/>
          <p:nvPr/>
        </p:nvPicPr>
        <p:blipFill rotWithShape="1">
          <a:blip r:embed="rId3">
            <a:alphaModFix/>
          </a:blip>
          <a:srcRect b="2210" l="2084" r="2304" t="52677"/>
          <a:stretch/>
        </p:blipFill>
        <p:spPr>
          <a:xfrm>
            <a:off x="1780386" y="896775"/>
            <a:ext cx="5583225" cy="3927801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4"/>
          <p:cNvSpPr txBox="1"/>
          <p:nvPr/>
        </p:nvSpPr>
        <p:spPr>
          <a:xfrm>
            <a:off x="187075" y="3275875"/>
            <a:ext cx="15933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8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I’m doing my grocery shopping with gratitude</a:t>
            </a:r>
            <a:endParaRPr sz="18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37" name="Google Shape;137;p24"/>
          <p:cNvSpPr txBox="1"/>
          <p:nvPr/>
        </p:nvSpPr>
        <p:spPr>
          <a:xfrm>
            <a:off x="7425350" y="3362575"/>
            <a:ext cx="15933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8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And I’m paying my rent with experience!</a:t>
            </a:r>
            <a:endParaRPr sz="18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Finding job: Mobile vs PC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4" name="Google Shape;14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80763"/>
            <a:ext cx="1937434" cy="3991026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5"/>
          <p:cNvSpPr/>
          <p:nvPr/>
        </p:nvSpPr>
        <p:spPr>
          <a:xfrm>
            <a:off x="3299800" y="1244025"/>
            <a:ext cx="1658400" cy="590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a">
                <a:latin typeface="Average"/>
                <a:ea typeface="Average"/>
                <a:cs typeface="Average"/>
                <a:sym typeface="Average"/>
              </a:rPr>
              <a:t>Mobile Gaming Development</a:t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46" name="Google Shape;146;p25"/>
          <p:cNvSpPr/>
          <p:nvPr/>
        </p:nvSpPr>
        <p:spPr>
          <a:xfrm>
            <a:off x="5140000" y="1244025"/>
            <a:ext cx="1658400" cy="590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a">
                <a:latin typeface="Average"/>
                <a:ea typeface="Average"/>
                <a:cs typeface="Average"/>
                <a:sym typeface="Average"/>
              </a:rPr>
              <a:t>PC/Other </a:t>
            </a:r>
            <a:r>
              <a:rPr lang="ca">
                <a:latin typeface="Average"/>
                <a:ea typeface="Average"/>
                <a:cs typeface="Average"/>
                <a:sym typeface="Average"/>
              </a:rPr>
              <a:t>Gaming Development</a:t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47" name="Google Shape;147;p25"/>
          <p:cNvSpPr/>
          <p:nvPr/>
        </p:nvSpPr>
        <p:spPr>
          <a:xfrm>
            <a:off x="2328250" y="1915875"/>
            <a:ext cx="1736400" cy="1686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48" name="Google Shape;148;p25"/>
          <p:cNvSpPr/>
          <p:nvPr/>
        </p:nvSpPr>
        <p:spPr>
          <a:xfrm>
            <a:off x="2328250" y="2360050"/>
            <a:ext cx="1736400" cy="1686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49" name="Google Shape;149;p25"/>
          <p:cNvSpPr/>
          <p:nvPr/>
        </p:nvSpPr>
        <p:spPr>
          <a:xfrm>
            <a:off x="2328250" y="2804200"/>
            <a:ext cx="3729600" cy="1686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50" name="Google Shape;150;p25"/>
          <p:cNvSpPr/>
          <p:nvPr/>
        </p:nvSpPr>
        <p:spPr>
          <a:xfrm>
            <a:off x="2328250" y="3248400"/>
            <a:ext cx="1736400" cy="1686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51" name="Google Shape;151;p25"/>
          <p:cNvSpPr/>
          <p:nvPr/>
        </p:nvSpPr>
        <p:spPr>
          <a:xfrm>
            <a:off x="2328250" y="3713050"/>
            <a:ext cx="1736400" cy="1686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52" name="Google Shape;152;p25"/>
          <p:cNvSpPr/>
          <p:nvPr/>
        </p:nvSpPr>
        <p:spPr>
          <a:xfrm>
            <a:off x="2328250" y="4177700"/>
            <a:ext cx="1736400" cy="1686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53" name="Google Shape;153;p25"/>
          <p:cNvSpPr/>
          <p:nvPr/>
        </p:nvSpPr>
        <p:spPr>
          <a:xfrm>
            <a:off x="2328250" y="4738025"/>
            <a:ext cx="1736400" cy="1686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54" name="Google Shape;154;p25"/>
          <p:cNvSpPr txBox="1"/>
          <p:nvPr/>
        </p:nvSpPr>
        <p:spPr>
          <a:xfrm>
            <a:off x="4497050" y="3185850"/>
            <a:ext cx="3874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LinkedIn quick search with name filter “</a:t>
            </a:r>
            <a:r>
              <a:rPr b="1" lang="ca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game engineer</a:t>
            </a:r>
            <a:r>
              <a:rPr lang="ca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”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55" name="Google Shape;155;p25"/>
          <p:cNvSpPr/>
          <p:nvPr/>
        </p:nvSpPr>
        <p:spPr>
          <a:xfrm>
            <a:off x="5977925" y="1834725"/>
            <a:ext cx="97500" cy="1098300"/>
          </a:xfrm>
          <a:prstGeom prst="rect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56" name="Google Shape;156;p25"/>
          <p:cNvSpPr/>
          <p:nvPr/>
        </p:nvSpPr>
        <p:spPr>
          <a:xfrm>
            <a:off x="4064775" y="1834725"/>
            <a:ext cx="97500" cy="3072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The Reality</a:t>
            </a:r>
            <a:endParaRPr/>
          </a:p>
        </p:txBody>
      </p:sp>
      <p:sp>
        <p:nvSpPr>
          <p:cNvPr id="162" name="Google Shape;162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ca"/>
              <a:t>Indie</a:t>
            </a:r>
            <a:r>
              <a:rPr lang="ca"/>
              <a:t> game development is a </a:t>
            </a:r>
            <a:r>
              <a:rPr b="1" lang="ca"/>
              <a:t>huge risk</a:t>
            </a:r>
            <a:r>
              <a:rPr lang="ca"/>
              <a:t> cause market is oversaturated</a:t>
            </a:r>
            <a:br>
              <a:rPr lang="ca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There are </a:t>
            </a:r>
            <a:r>
              <a:rPr b="1" lang="ca"/>
              <a:t>more job offers for Mobile</a:t>
            </a:r>
            <a:r>
              <a:rPr lang="ca"/>
              <a:t> video games</a:t>
            </a:r>
            <a:br>
              <a:rPr lang="ca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ca"/>
              <a:t>Mobile</a:t>
            </a:r>
            <a:r>
              <a:rPr lang="ca"/>
              <a:t> video game companies usually </a:t>
            </a:r>
            <a:r>
              <a:rPr b="1" lang="ca"/>
              <a:t>pay</a:t>
            </a:r>
            <a:r>
              <a:rPr lang="ca"/>
              <a:t> an average of 20-40% </a:t>
            </a:r>
            <a:r>
              <a:rPr b="1" lang="ca"/>
              <a:t>more</a:t>
            </a:r>
            <a:r>
              <a:rPr lang="ca"/>
              <a:t> than majority of other PC or console companies (at least to the engineers)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7"/>
          <p:cNvSpPr txBox="1"/>
          <p:nvPr>
            <p:ph type="title"/>
          </p:nvPr>
        </p:nvSpPr>
        <p:spPr>
          <a:xfrm>
            <a:off x="311700" y="323425"/>
            <a:ext cx="8517000" cy="44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4100"/>
              <a:t>Okey, maybe </a:t>
            </a:r>
            <a:r>
              <a:rPr b="1" i="1" lang="ca" sz="4100"/>
              <a:t>I can consider</a:t>
            </a:r>
            <a:r>
              <a:rPr b="1" lang="ca" sz="4100"/>
              <a:t> learning some mobile stuff…</a:t>
            </a:r>
            <a:endParaRPr b="1" sz="4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6100"/>
              <a:t>HOW</a:t>
            </a:r>
            <a:r>
              <a:rPr b="1" lang="ca" sz="6100"/>
              <a:t>?</a:t>
            </a:r>
            <a:endParaRPr b="1" sz="6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4" name="Google Shape;17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88" y="418875"/>
            <a:ext cx="8196225" cy="430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1" name="Google Shape;18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4375" y="357375"/>
            <a:ext cx="7636599" cy="4086501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9"/>
          <p:cNvSpPr txBox="1"/>
          <p:nvPr/>
        </p:nvSpPr>
        <p:spPr>
          <a:xfrm>
            <a:off x="2198750" y="4475025"/>
            <a:ext cx="512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Mobile games market share per engine, for 2021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0"/>
          <p:cNvSpPr txBox="1"/>
          <p:nvPr>
            <p:ph type="title"/>
          </p:nvPr>
        </p:nvSpPr>
        <p:spPr>
          <a:xfrm>
            <a:off x="311700" y="323425"/>
            <a:ext cx="8517000" cy="44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4100"/>
              <a:t>This is from 2021, Unity has flopped this year…</a:t>
            </a:r>
            <a:endParaRPr b="1" sz="4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6100"/>
              <a:t>NO</a:t>
            </a:r>
            <a:r>
              <a:rPr b="1" lang="ca" sz="6100"/>
              <a:t>?</a:t>
            </a:r>
            <a:endParaRPr b="1" sz="6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4" name="Google Shape;19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29939"/>
            <a:ext cx="9144003" cy="46836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Finding job: Unity vs Godot</a:t>
            </a:r>
            <a:endParaRPr/>
          </a:p>
        </p:txBody>
      </p:sp>
      <p:sp>
        <p:nvSpPr>
          <p:cNvPr id="200" name="Google Shape;200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32"/>
          <p:cNvSpPr/>
          <p:nvPr/>
        </p:nvSpPr>
        <p:spPr>
          <a:xfrm>
            <a:off x="3299800" y="1244025"/>
            <a:ext cx="1658400" cy="590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a">
                <a:latin typeface="Average"/>
                <a:ea typeface="Average"/>
                <a:cs typeface="Average"/>
                <a:sym typeface="Average"/>
              </a:rPr>
              <a:t>Unity</a:t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02" name="Google Shape;202;p32"/>
          <p:cNvSpPr/>
          <p:nvPr/>
        </p:nvSpPr>
        <p:spPr>
          <a:xfrm>
            <a:off x="5140000" y="1244025"/>
            <a:ext cx="1658400" cy="590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a">
                <a:latin typeface="Average"/>
                <a:ea typeface="Average"/>
                <a:cs typeface="Average"/>
                <a:sym typeface="Average"/>
              </a:rPr>
              <a:t>Other</a:t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03" name="Google Shape;203;p32"/>
          <p:cNvSpPr/>
          <p:nvPr/>
        </p:nvSpPr>
        <p:spPr>
          <a:xfrm>
            <a:off x="2328250" y="1915875"/>
            <a:ext cx="1736400" cy="1686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04" name="Google Shape;204;p32"/>
          <p:cNvSpPr/>
          <p:nvPr/>
        </p:nvSpPr>
        <p:spPr>
          <a:xfrm>
            <a:off x="2328250" y="2360050"/>
            <a:ext cx="1736400" cy="1686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05" name="Google Shape;205;p32"/>
          <p:cNvSpPr/>
          <p:nvPr/>
        </p:nvSpPr>
        <p:spPr>
          <a:xfrm>
            <a:off x="2328250" y="2804200"/>
            <a:ext cx="3729600" cy="1686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06" name="Google Shape;206;p32"/>
          <p:cNvSpPr/>
          <p:nvPr/>
        </p:nvSpPr>
        <p:spPr>
          <a:xfrm>
            <a:off x="2328250" y="3713050"/>
            <a:ext cx="1736400" cy="1686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07" name="Google Shape;207;p32"/>
          <p:cNvSpPr/>
          <p:nvPr/>
        </p:nvSpPr>
        <p:spPr>
          <a:xfrm>
            <a:off x="2328250" y="4562550"/>
            <a:ext cx="1736400" cy="1686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08" name="Google Shape;208;p32"/>
          <p:cNvSpPr txBox="1"/>
          <p:nvPr/>
        </p:nvSpPr>
        <p:spPr>
          <a:xfrm>
            <a:off x="6190825" y="2768675"/>
            <a:ext cx="26415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LinkedIn quick search with name filter “</a:t>
            </a:r>
            <a:r>
              <a:rPr b="1" lang="ca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mobile game software engineer</a:t>
            </a:r>
            <a:r>
              <a:rPr lang="ca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”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If you search “</a:t>
            </a:r>
            <a:r>
              <a:rPr b="1" lang="ca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godot</a:t>
            </a:r>
            <a:r>
              <a:rPr lang="ca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”, you obtain 0 results, but with “</a:t>
            </a:r>
            <a:r>
              <a:rPr b="1" lang="ca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unity</a:t>
            </a:r>
            <a:r>
              <a:rPr lang="ca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” you obtain 297.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09" name="Google Shape;209;p32"/>
          <p:cNvSpPr/>
          <p:nvPr/>
        </p:nvSpPr>
        <p:spPr>
          <a:xfrm>
            <a:off x="5977925" y="1834725"/>
            <a:ext cx="97500" cy="2423700"/>
          </a:xfrm>
          <a:prstGeom prst="rect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10" name="Google Shape;210;p32"/>
          <p:cNvSpPr/>
          <p:nvPr/>
        </p:nvSpPr>
        <p:spPr>
          <a:xfrm>
            <a:off x="4064775" y="1834725"/>
            <a:ext cx="97500" cy="3308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211" name="Google Shape;21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2" y="1152475"/>
            <a:ext cx="1810956" cy="3991024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32"/>
          <p:cNvSpPr/>
          <p:nvPr/>
        </p:nvSpPr>
        <p:spPr>
          <a:xfrm>
            <a:off x="6980200" y="1244025"/>
            <a:ext cx="1658400" cy="590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a">
                <a:latin typeface="Average"/>
                <a:ea typeface="Average"/>
                <a:cs typeface="Average"/>
                <a:sym typeface="Average"/>
              </a:rPr>
              <a:t>Godot</a:t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13" name="Google Shape;213;p32"/>
          <p:cNvSpPr/>
          <p:nvPr/>
        </p:nvSpPr>
        <p:spPr>
          <a:xfrm>
            <a:off x="2328250" y="4137800"/>
            <a:ext cx="3729600" cy="1686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14" name="Google Shape;214;p32"/>
          <p:cNvSpPr/>
          <p:nvPr/>
        </p:nvSpPr>
        <p:spPr>
          <a:xfrm>
            <a:off x="2328250" y="4987300"/>
            <a:ext cx="1736400" cy="1686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15" name="Google Shape;215;p32"/>
          <p:cNvSpPr/>
          <p:nvPr/>
        </p:nvSpPr>
        <p:spPr>
          <a:xfrm>
            <a:off x="2328250" y="3326713"/>
            <a:ext cx="3729600" cy="1686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16" name="Google Shape;216;p32"/>
          <p:cNvSpPr txBox="1"/>
          <p:nvPr/>
        </p:nvSpPr>
        <p:spPr>
          <a:xfrm>
            <a:off x="7574250" y="1963875"/>
            <a:ext cx="131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???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3"/>
          <p:cNvSpPr txBox="1"/>
          <p:nvPr>
            <p:ph type="title"/>
          </p:nvPr>
        </p:nvSpPr>
        <p:spPr>
          <a:xfrm>
            <a:off x="311700" y="323425"/>
            <a:ext cx="8517000" cy="44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4100"/>
              <a:t>Understood.</a:t>
            </a:r>
            <a:endParaRPr b="1" sz="4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6100"/>
              <a:t>What now</a:t>
            </a:r>
            <a:r>
              <a:rPr b="1" lang="ca" sz="6100"/>
              <a:t>?</a:t>
            </a:r>
            <a:endParaRPr b="1" sz="61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Subject Content</a:t>
            </a:r>
            <a:endParaRPr/>
          </a:p>
        </p:txBody>
      </p:sp>
      <p:graphicFrame>
        <p:nvGraphicFramePr>
          <p:cNvPr id="227" name="Google Shape;227;p34"/>
          <p:cNvGraphicFramePr/>
          <p:nvPr/>
        </p:nvGraphicFramePr>
        <p:xfrm>
          <a:off x="952500" y="1231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{2CE02229-3130-4492-B24B-D069ECD15094}</a:tableStyleId>
              </a:tblPr>
              <a:tblGrid>
                <a:gridCol w="2413000"/>
                <a:gridCol w="2413000"/>
                <a:gridCol w="2777975"/>
              </a:tblGrid>
              <a:tr h="381000">
                <a:tc>
                  <a:txBody>
                    <a:bodyPr/>
                    <a:lstStyle/>
                    <a:p>
                      <a:pPr indent="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ca" sz="1800">
                          <a:solidFill>
                            <a:schemeClr val="accent3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Unity Essentials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ca" sz="1800">
                          <a:solidFill>
                            <a:schemeClr val="accent3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C# and Software Architecture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800">
                          <a:solidFill>
                            <a:schemeClr val="accent3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Advanced Unity</a:t>
                      </a:r>
                      <a:endParaRPr sz="1800">
                        <a:solidFill>
                          <a:schemeClr val="accent3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  <a:p>
                      <a:pPr indent="0" lvl="0" marL="0" rtl="0" algn="l"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-317500" lvl="1" marL="9144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1400"/>
                        <a:buFont typeface="Average"/>
                        <a:buChar char="-"/>
                      </a:pPr>
                      <a:r>
                        <a:rPr lang="ca">
                          <a:solidFill>
                            <a:schemeClr val="accent3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Editor</a:t>
                      </a:r>
                      <a:endParaRPr>
                        <a:solidFill>
                          <a:schemeClr val="accent3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  <a:p>
                      <a:pPr indent="-317500" lvl="1" marL="9144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1400"/>
                        <a:buFont typeface="Average"/>
                        <a:buChar char="-"/>
                      </a:pPr>
                      <a:r>
                        <a:rPr lang="ca">
                          <a:solidFill>
                            <a:schemeClr val="accent3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3D</a:t>
                      </a:r>
                      <a:endParaRPr>
                        <a:solidFill>
                          <a:schemeClr val="accent3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  <a:p>
                      <a:pPr indent="-317500" lvl="1" marL="9144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1400"/>
                        <a:buFont typeface="Average"/>
                        <a:buChar char="-"/>
                      </a:pPr>
                      <a:r>
                        <a:rPr lang="ca">
                          <a:solidFill>
                            <a:schemeClr val="accent3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2D</a:t>
                      </a:r>
                      <a:endParaRPr>
                        <a:solidFill>
                          <a:schemeClr val="accent3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  <a:p>
                      <a:pPr indent="-317500" lvl="1" marL="9144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1400"/>
                        <a:buFont typeface="Average"/>
                        <a:buChar char="-"/>
                      </a:pPr>
                      <a:r>
                        <a:rPr lang="ca">
                          <a:solidFill>
                            <a:schemeClr val="accent3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Audio</a:t>
                      </a:r>
                      <a:endParaRPr>
                        <a:solidFill>
                          <a:schemeClr val="accent3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  <a:p>
                      <a:pPr indent="-317500" lvl="1" marL="9144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1400"/>
                        <a:buFont typeface="Average"/>
                        <a:buChar char="-"/>
                      </a:pPr>
                      <a:r>
                        <a:rPr lang="ca">
                          <a:solidFill>
                            <a:schemeClr val="accent3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Scripting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17500" lvl="1" marL="9144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1400"/>
                        <a:buFont typeface="Average"/>
                        <a:buChar char="-"/>
                      </a:pPr>
                      <a:r>
                        <a:rPr lang="ca">
                          <a:solidFill>
                            <a:schemeClr val="accent3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C# </a:t>
                      </a:r>
                      <a:endParaRPr>
                        <a:solidFill>
                          <a:schemeClr val="accent3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  <a:p>
                      <a:pPr indent="-317500" lvl="1" marL="9144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1400"/>
                        <a:buFont typeface="Average"/>
                        <a:buChar char="-"/>
                      </a:pPr>
                      <a:r>
                        <a:rPr lang="ca">
                          <a:solidFill>
                            <a:schemeClr val="accent3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OOP</a:t>
                      </a:r>
                      <a:endParaRPr>
                        <a:solidFill>
                          <a:schemeClr val="accent3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  <a:p>
                      <a:pPr indent="-317500" lvl="1" marL="9144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1400"/>
                        <a:buFont typeface="Average"/>
                        <a:buChar char="-"/>
                      </a:pPr>
                      <a:r>
                        <a:rPr lang="ca">
                          <a:solidFill>
                            <a:schemeClr val="accent3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Design Patterns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17500" lvl="1" marL="9144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1400"/>
                        <a:buFont typeface="Average"/>
                        <a:buChar char="-"/>
                      </a:pPr>
                      <a:r>
                        <a:rPr lang="ca">
                          <a:solidFill>
                            <a:schemeClr val="accent3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Persistance</a:t>
                      </a:r>
                      <a:endParaRPr>
                        <a:solidFill>
                          <a:schemeClr val="accent3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  <a:p>
                      <a:pPr indent="-317500" lvl="1" marL="9144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1400"/>
                        <a:buFont typeface="Average"/>
                        <a:buChar char="-"/>
                      </a:pPr>
                      <a:r>
                        <a:rPr lang="ca">
                          <a:solidFill>
                            <a:schemeClr val="accent3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Tooling</a:t>
                      </a:r>
                      <a:endParaRPr>
                        <a:solidFill>
                          <a:schemeClr val="accent3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  <a:p>
                      <a:pPr indent="-317500" lvl="1" marL="9144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1400"/>
                        <a:buFont typeface="Average"/>
                        <a:buChar char="-"/>
                      </a:pPr>
                      <a:r>
                        <a:rPr lang="ca">
                          <a:solidFill>
                            <a:schemeClr val="accent3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Assemblies</a:t>
                      </a:r>
                      <a:endParaRPr>
                        <a:solidFill>
                          <a:schemeClr val="accent3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  <a:p>
                      <a:pPr indent="-317500" lvl="1" marL="9144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1400"/>
                        <a:buFont typeface="Average"/>
                        <a:buChar char="-"/>
                      </a:pPr>
                      <a:r>
                        <a:rPr lang="ca">
                          <a:solidFill>
                            <a:schemeClr val="accent3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Testing</a:t>
                      </a:r>
                      <a:endParaRPr>
                        <a:solidFill>
                          <a:schemeClr val="accent3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  <a:p>
                      <a:pPr indent="-317500" lvl="1" marL="9144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1400"/>
                        <a:buFont typeface="Average"/>
                        <a:buChar char="-"/>
                      </a:pPr>
                      <a:r>
                        <a:rPr lang="ca">
                          <a:solidFill>
                            <a:schemeClr val="accent3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Scriptable Objects</a:t>
                      </a:r>
                      <a:endParaRPr>
                        <a:solidFill>
                          <a:schemeClr val="accent3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  <a:p>
                      <a:pPr indent="-317500" lvl="1" marL="9144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1400"/>
                        <a:buFont typeface="Average"/>
                        <a:buChar char="-"/>
                      </a:pPr>
                      <a:r>
                        <a:rPr lang="ca">
                          <a:solidFill>
                            <a:schemeClr val="accent3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Asynchronous programming</a:t>
                      </a:r>
                      <a:endParaRPr>
                        <a:solidFill>
                          <a:schemeClr val="accent3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  <a:p>
                      <a:pPr indent="-317500" lvl="1" marL="9144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1400"/>
                        <a:buFont typeface="Average"/>
                        <a:buChar char="-"/>
                      </a:pPr>
                      <a:r>
                        <a:rPr lang="ca">
                          <a:solidFill>
                            <a:schemeClr val="accent3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Addressables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Evaluation Criteria</a:t>
            </a:r>
            <a:endParaRPr/>
          </a:p>
        </p:txBody>
      </p:sp>
      <p:graphicFrame>
        <p:nvGraphicFramePr>
          <p:cNvPr id="233" name="Google Shape;233;p35"/>
          <p:cNvGraphicFramePr/>
          <p:nvPr/>
        </p:nvGraphicFramePr>
        <p:xfrm>
          <a:off x="952500" y="1208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{2CE02229-3130-4492-B24B-D069ECD15094}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ca" sz="1800">
                          <a:solidFill>
                            <a:schemeClr val="accent3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Oral Presentation I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rgbClr val="CACACA"/>
                          </a:solidFill>
                        </a:rPr>
                        <a:t>5</a:t>
                      </a:r>
                      <a:r>
                        <a:rPr lang="ca">
                          <a:solidFill>
                            <a:srgbClr val="CACACA"/>
                          </a:solidFill>
                        </a:rPr>
                        <a:t>%</a:t>
                      </a:r>
                      <a:endParaRPr>
                        <a:solidFill>
                          <a:srgbClr val="CACACA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ca" sz="1800">
                          <a:solidFill>
                            <a:schemeClr val="accent3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Oral Presentation 2 + code sample deliver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rgbClr val="CACACA"/>
                          </a:solidFill>
                        </a:rPr>
                        <a:t>5%</a:t>
                      </a:r>
                      <a:endParaRPr>
                        <a:solidFill>
                          <a:srgbClr val="CACACA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ca" sz="1800">
                          <a:solidFill>
                            <a:schemeClr val="accent3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Theory </a:t>
                      </a:r>
                      <a:r>
                        <a:rPr lang="ca" sz="1800">
                          <a:solidFill>
                            <a:schemeClr val="accent3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Exam</a:t>
                      </a:r>
                      <a:endParaRPr sz="1800">
                        <a:solidFill>
                          <a:schemeClr val="accent3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rgbClr val="CACACA"/>
                          </a:solidFill>
                        </a:rPr>
                        <a:t>20%</a:t>
                      </a:r>
                      <a:endParaRPr>
                        <a:solidFill>
                          <a:srgbClr val="CACACA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ca" sz="1800">
                          <a:solidFill>
                            <a:schemeClr val="accent3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Individual scoped videogame deliver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rgbClr val="CACACA"/>
                          </a:solidFill>
                        </a:rPr>
                        <a:t>20%</a:t>
                      </a:r>
                      <a:endParaRPr>
                        <a:solidFill>
                          <a:srgbClr val="CACACA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ca" sz="1800">
                          <a:solidFill>
                            <a:schemeClr val="accent3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Final Team Deliver I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rgbClr val="CACACA"/>
                          </a:solidFill>
                        </a:rPr>
                        <a:t>10%</a:t>
                      </a:r>
                      <a:endParaRPr>
                        <a:solidFill>
                          <a:srgbClr val="CACACA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ca" sz="1800">
                          <a:solidFill>
                            <a:schemeClr val="accent3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Final Team Deliver II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rgbClr val="CACACA"/>
                          </a:solidFill>
                        </a:rPr>
                        <a:t>30</a:t>
                      </a:r>
                      <a:r>
                        <a:rPr lang="ca">
                          <a:solidFill>
                            <a:srgbClr val="CACACA"/>
                          </a:solidFill>
                        </a:rPr>
                        <a:t>%</a:t>
                      </a:r>
                      <a:endParaRPr>
                        <a:solidFill>
                          <a:srgbClr val="CACACA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ca" sz="1800">
                          <a:solidFill>
                            <a:schemeClr val="accent3"/>
                          </a:solidFill>
                          <a:latin typeface="Average"/>
                          <a:ea typeface="Average"/>
                          <a:cs typeface="Average"/>
                          <a:sym typeface="Average"/>
                        </a:rPr>
                        <a:t>Attendance</a:t>
                      </a:r>
                      <a:endParaRPr sz="1800">
                        <a:solidFill>
                          <a:schemeClr val="accent3"/>
                        </a:solidFill>
                        <a:latin typeface="Average"/>
                        <a:ea typeface="Average"/>
                        <a:cs typeface="Average"/>
                        <a:sym typeface="Averag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rgbClr val="CACACA"/>
                          </a:solidFill>
                        </a:rPr>
                        <a:t>10%</a:t>
                      </a:r>
                      <a:endParaRPr>
                        <a:solidFill>
                          <a:srgbClr val="CACACA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Re-</a:t>
            </a:r>
            <a:r>
              <a:rPr lang="ca"/>
              <a:t>Evaluation Criteria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In case of failing the subject (&lt;5):</a:t>
            </a:r>
            <a:endParaRPr/>
          </a:p>
          <a:p>
            <a:pPr indent="-317500" lvl="1" marL="914400" rtl="0" algn="l">
              <a:spcBef>
                <a:spcPts val="1200"/>
              </a:spcBef>
              <a:spcAft>
                <a:spcPts val="0"/>
              </a:spcAft>
              <a:buSzPts val="1400"/>
              <a:buChar char="-"/>
            </a:pPr>
            <a:r>
              <a:rPr lang="ca"/>
              <a:t>Recover the Theory exam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1" marL="914400" rtl="0" algn="l">
              <a:spcBef>
                <a:spcPts val="1200"/>
              </a:spcBef>
              <a:spcAft>
                <a:spcPts val="0"/>
              </a:spcAft>
              <a:buSzPts val="1400"/>
              <a:buChar char="-"/>
            </a:pPr>
            <a:r>
              <a:rPr lang="ca"/>
              <a:t>You can only recover the score from that Theory exam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ca"/>
              <a:t>Remember that Theory Exam is 20% of the Final Score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ca"/>
              <a:t>That means that if your final score before re-evaluation is &lt; 3, recovery won’t save you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ca"/>
              <a:t>The maximum amount of Final Score you can receive after a re-evaluation is 5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36"/>
          <p:cNvSpPr/>
          <p:nvPr/>
        </p:nvSpPr>
        <p:spPr>
          <a:xfrm>
            <a:off x="2608950" y="3762650"/>
            <a:ext cx="3926100" cy="9747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a">
                <a:latin typeface="Average"/>
                <a:ea typeface="Average"/>
                <a:cs typeface="Average"/>
                <a:sym typeface="Average"/>
              </a:rPr>
              <a:t>Remember that all </a:t>
            </a:r>
            <a:r>
              <a:rPr b="1" lang="ca">
                <a:latin typeface="Average"/>
                <a:ea typeface="Average"/>
                <a:cs typeface="Average"/>
                <a:sym typeface="Average"/>
              </a:rPr>
              <a:t>presentations</a:t>
            </a:r>
            <a:r>
              <a:rPr lang="ca">
                <a:latin typeface="Average"/>
                <a:ea typeface="Average"/>
                <a:cs typeface="Average"/>
                <a:sym typeface="Average"/>
              </a:rPr>
              <a:t> </a:t>
            </a:r>
            <a:r>
              <a:rPr b="1" lang="ca">
                <a:latin typeface="Average"/>
                <a:ea typeface="Average"/>
                <a:cs typeface="Average"/>
                <a:sym typeface="Average"/>
              </a:rPr>
              <a:t>and</a:t>
            </a:r>
            <a:r>
              <a:rPr lang="ca">
                <a:latin typeface="Average"/>
                <a:ea typeface="Average"/>
                <a:cs typeface="Average"/>
                <a:sym typeface="Average"/>
              </a:rPr>
              <a:t> theory </a:t>
            </a:r>
            <a:r>
              <a:rPr b="1" lang="ca">
                <a:latin typeface="Average"/>
                <a:ea typeface="Average"/>
                <a:cs typeface="Average"/>
                <a:sym typeface="Average"/>
              </a:rPr>
              <a:t>exams</a:t>
            </a:r>
            <a:r>
              <a:rPr lang="ca">
                <a:latin typeface="Average"/>
                <a:ea typeface="Average"/>
                <a:cs typeface="Average"/>
                <a:sym typeface="Average"/>
              </a:rPr>
              <a:t> </a:t>
            </a:r>
            <a:r>
              <a:rPr b="1" lang="ca">
                <a:latin typeface="Average"/>
                <a:ea typeface="Average"/>
                <a:cs typeface="Average"/>
                <a:sym typeface="Average"/>
              </a:rPr>
              <a:t>require presence</a:t>
            </a:r>
            <a:r>
              <a:rPr lang="ca">
                <a:latin typeface="Average"/>
                <a:ea typeface="Average"/>
                <a:cs typeface="Average"/>
                <a:sym typeface="Average"/>
              </a:rPr>
              <a:t>.</a:t>
            </a:r>
            <a:endParaRPr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a">
                <a:latin typeface="Average"/>
                <a:ea typeface="Average"/>
                <a:cs typeface="Average"/>
                <a:sym typeface="Average"/>
              </a:rPr>
              <a:t>Unjustified </a:t>
            </a:r>
            <a:r>
              <a:rPr lang="ca">
                <a:latin typeface="Average"/>
                <a:ea typeface="Average"/>
                <a:cs typeface="Average"/>
                <a:sym typeface="Average"/>
              </a:rPr>
              <a:t>absence</a:t>
            </a:r>
            <a:r>
              <a:rPr lang="ca">
                <a:latin typeface="Average"/>
                <a:ea typeface="Average"/>
                <a:cs typeface="Average"/>
                <a:sym typeface="Average"/>
              </a:rPr>
              <a:t> </a:t>
            </a:r>
            <a:r>
              <a:rPr b="1" lang="ca">
                <a:latin typeface="Average"/>
                <a:ea typeface="Average"/>
                <a:cs typeface="Average"/>
                <a:sym typeface="Average"/>
              </a:rPr>
              <a:t>equals 0</a:t>
            </a:r>
            <a:r>
              <a:rPr lang="ca">
                <a:latin typeface="Average"/>
                <a:ea typeface="Average"/>
                <a:cs typeface="Average"/>
                <a:sym typeface="Average"/>
              </a:rPr>
              <a:t>.</a:t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Unity Essentials</a:t>
            </a:r>
            <a:endParaRPr/>
          </a:p>
        </p:txBody>
      </p:sp>
      <p:sp>
        <p:nvSpPr>
          <p:cNvPr id="246" name="Google Shape;246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Link: </a:t>
            </a:r>
            <a:r>
              <a:rPr lang="ca" u="sng">
                <a:solidFill>
                  <a:schemeClr val="hlink"/>
                </a:solidFill>
                <a:hlinkClick r:id="rId3"/>
              </a:rPr>
              <a:t>https://learn.unity.com/pathway/unity-essentials?language=en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Badge recognized by Digital Badges and Unity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We are going to </a:t>
            </a:r>
            <a:r>
              <a:rPr lang="ca"/>
              <a:t>fulfill all</a:t>
            </a:r>
            <a:r>
              <a:rPr lang="ca"/>
              <a:t> chapters except 4 and 6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ca"/>
              <a:t>Chapter 4 is about scripting,  I assume you already have some basics, so we are going to go </a:t>
            </a:r>
            <a:r>
              <a:rPr lang="ca"/>
              <a:t>through</a:t>
            </a:r>
            <a:r>
              <a:rPr lang="ca"/>
              <a:t> it fast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ca"/>
              <a:t>Chapter 6 is about publishing, which is not a main objective for the course, so we are going to cover only if time allows us to do so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After completing chapters, we are going to enhance the knowledge with some Tips and tricks, or knowledge from the industry insights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ca"/>
              <a:t>Remember that the version of Unity that we’re going to use is: </a:t>
            </a:r>
            <a:r>
              <a:rPr b="1" lang="ca" sz="2000"/>
              <a:t>2022.3.44f1</a:t>
            </a:r>
            <a:endParaRPr b="1"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