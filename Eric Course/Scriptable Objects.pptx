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Average"/>
      <p:regular r:id="rId21"/>
    </p:embeddedFont>
    <p:embeddedFont>
      <p:font typeface="Oswald"/>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Oswald-regular.fntdata"/><Relationship Id="rId10" Type="http://schemas.openxmlformats.org/officeDocument/2006/relationships/slide" Target="slides/slide5.xml"/><Relationship Id="rId21" Type="http://schemas.openxmlformats.org/officeDocument/2006/relationships/font" Target="fonts/Average-regular.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Oswa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0d9800e1d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0d9800e1d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15cc1bd5e9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15cc1bd5e9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15ecf3f58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15ecf3f58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15ecf3f58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15ecf3f5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15ecf3f58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15ecf3f58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15ecf3f585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15ecf3f585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15ecf3f585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15ecf3f585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15ecf3f585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15ecf3f585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15ecf3f585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15ecf3f585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15ecf3f585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15ecf3f585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15ecf3f585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15ecf3f585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15ecf3f585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15ecf3f585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15ecf3f585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15ecf3f585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15ecf3f585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15ecf3f585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c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12.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www.youtube.com/watch?v=raQ3iHhE_Kk" TargetMode="External"/><Relationship Id="rId4" Type="http://schemas.openxmlformats.org/officeDocument/2006/relationships/image" Target="../media/image6.jpg"/><Relationship Id="rId5" Type="http://schemas.openxmlformats.org/officeDocument/2006/relationships/hyperlink" Target="https://www.youtube.com/watch?v=raQ3iHhE_Kk"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ca"/>
              <a:t>Scriptable Objects</a:t>
            </a:r>
            <a:endParaRPr/>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ca"/>
              <a:t>Advanced Unity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ca"/>
              <a:t>Content</a:t>
            </a:r>
            <a:endParaRPr/>
          </a:p>
        </p:txBody>
      </p:sp>
      <p:sp>
        <p:nvSpPr>
          <p:cNvPr id="66" name="Google Shape;66;p14"/>
          <p:cNvSpPr txBox="1"/>
          <p:nvPr>
            <p:ph idx="1" type="body"/>
          </p:nvPr>
        </p:nvSpPr>
        <p:spPr>
          <a:xfrm>
            <a:off x="311700" y="1152475"/>
            <a:ext cx="60444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ca"/>
              <a:t>Why Scriptable Objects are nice</a:t>
            </a:r>
            <a:endParaRPr/>
          </a:p>
          <a:p>
            <a:pPr indent="-342900" lvl="0" marL="457200" rtl="0" algn="l">
              <a:spcBef>
                <a:spcPts val="0"/>
              </a:spcBef>
              <a:spcAft>
                <a:spcPts val="0"/>
              </a:spcAft>
              <a:buSzPts val="1800"/>
              <a:buChar char="-"/>
            </a:pPr>
            <a:r>
              <a:rPr lang="ca"/>
              <a:t>How to create Scriptable Objects</a:t>
            </a:r>
            <a:endParaRPr/>
          </a:p>
          <a:p>
            <a:pPr indent="-342900" lvl="0" marL="457200" rtl="0" algn="l">
              <a:spcBef>
                <a:spcPts val="0"/>
              </a:spcBef>
              <a:spcAft>
                <a:spcPts val="0"/>
              </a:spcAft>
              <a:buSzPts val="1800"/>
              <a:buChar char="-"/>
            </a:pPr>
            <a:r>
              <a:rPr lang="ca"/>
              <a:t>How to use Scriptable Objects</a:t>
            </a:r>
            <a:endParaRPr/>
          </a:p>
          <a:p>
            <a:pPr indent="-342900" lvl="0" marL="457200" rtl="0" algn="l">
              <a:spcBef>
                <a:spcPts val="0"/>
              </a:spcBef>
              <a:spcAft>
                <a:spcPts val="0"/>
              </a:spcAft>
              <a:buSzPts val="1800"/>
              <a:buChar char="-"/>
            </a:pPr>
            <a:r>
              <a:rPr lang="ca"/>
              <a:t>What are Scriptable Objects</a:t>
            </a:r>
            <a:endParaRPr/>
          </a:p>
          <a:p>
            <a:pPr indent="-342900" lvl="0" marL="457200" rtl="0" algn="l">
              <a:spcBef>
                <a:spcPts val="0"/>
              </a:spcBef>
              <a:spcAft>
                <a:spcPts val="0"/>
              </a:spcAft>
              <a:buSzPts val="1800"/>
              <a:buChar char="-"/>
            </a:pPr>
            <a:r>
              <a:rPr lang="ca"/>
              <a:t>Exercise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323425"/>
            <a:ext cx="8517000" cy="442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ca" sz="2790"/>
              <a:t>Imagine that you have a RPG game with lot’s of weapons.</a:t>
            </a:r>
            <a:endParaRPr b="1" sz="2790"/>
          </a:p>
          <a:p>
            <a:pPr indent="0" lvl="0" marL="0" rtl="0" algn="ctr">
              <a:spcBef>
                <a:spcPts val="0"/>
              </a:spcBef>
              <a:spcAft>
                <a:spcPts val="0"/>
              </a:spcAft>
              <a:buSzPts val="990"/>
              <a:buNone/>
            </a:pPr>
            <a:r>
              <a:t/>
            </a:r>
            <a:endParaRPr b="1" sz="2790"/>
          </a:p>
          <a:p>
            <a:pPr indent="0" lvl="0" marL="0" rtl="0" algn="ctr">
              <a:spcBef>
                <a:spcPts val="0"/>
              </a:spcBef>
              <a:spcAft>
                <a:spcPts val="0"/>
              </a:spcAft>
              <a:buSzPts val="990"/>
              <a:buNone/>
            </a:pPr>
            <a:r>
              <a:rPr b="1" lang="ca" sz="2790"/>
              <a:t>Each weapon has it’s own value of damage, range and speed.</a:t>
            </a:r>
            <a:endParaRPr b="1" sz="2790"/>
          </a:p>
          <a:p>
            <a:pPr indent="0" lvl="0" marL="0" rtl="0" algn="ctr">
              <a:spcBef>
                <a:spcPts val="0"/>
              </a:spcBef>
              <a:spcAft>
                <a:spcPts val="0"/>
              </a:spcAft>
              <a:buSzPts val="990"/>
              <a:buNone/>
            </a:pPr>
            <a:r>
              <a:t/>
            </a:r>
            <a:endParaRPr b="1" sz="2790"/>
          </a:p>
          <a:p>
            <a:pPr indent="0" lvl="0" marL="0" rtl="0" algn="ctr">
              <a:spcBef>
                <a:spcPts val="0"/>
              </a:spcBef>
              <a:spcAft>
                <a:spcPts val="0"/>
              </a:spcAft>
              <a:buSzPts val="990"/>
              <a:buNone/>
            </a:pPr>
            <a:r>
              <a:rPr b="1" lang="ca" sz="2790"/>
              <a:t>How can we ensure that those </a:t>
            </a:r>
            <a:r>
              <a:rPr b="1" lang="ca" sz="2790" u="sng"/>
              <a:t>values are centralized and are easily tweaked without touching the code</a:t>
            </a:r>
            <a:r>
              <a:rPr b="1" lang="ca" sz="2790"/>
              <a:t>? </a:t>
            </a:r>
            <a:endParaRPr b="1" sz="2790"/>
          </a:p>
          <a:p>
            <a:pPr indent="0" lvl="0" marL="0" rtl="0" algn="ctr">
              <a:spcBef>
                <a:spcPts val="0"/>
              </a:spcBef>
              <a:spcAft>
                <a:spcPts val="0"/>
              </a:spcAft>
              <a:buSzPts val="990"/>
              <a:buNone/>
            </a:pPr>
            <a:r>
              <a:t/>
            </a:r>
            <a:endParaRPr b="1" sz="2790"/>
          </a:p>
          <a:p>
            <a:pPr indent="0" lvl="0" marL="0" rtl="0" algn="ctr">
              <a:spcBef>
                <a:spcPts val="0"/>
              </a:spcBef>
              <a:spcAft>
                <a:spcPts val="0"/>
              </a:spcAft>
              <a:buSzPts val="990"/>
              <a:buNone/>
            </a:pPr>
            <a:r>
              <a:rPr b="1" lang="ca" sz="3890"/>
              <a:t>Wait…why without touching the code?</a:t>
            </a:r>
            <a:endParaRPr b="1" sz="389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p:cNvPicPr preferRelativeResize="0"/>
          <p:nvPr/>
        </p:nvPicPr>
        <p:blipFill>
          <a:blip r:embed="rId3">
            <a:alphaModFix/>
          </a:blip>
          <a:stretch>
            <a:fillRect/>
          </a:stretch>
        </p:blipFill>
        <p:spPr>
          <a:xfrm>
            <a:off x="2191465" y="0"/>
            <a:ext cx="4761061" cy="51434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ca"/>
              <a:t>How to </a:t>
            </a:r>
            <a:r>
              <a:rPr b="1" lang="ca"/>
              <a:t>create </a:t>
            </a:r>
            <a:r>
              <a:rPr lang="ca"/>
              <a:t>a Scriptable Object</a:t>
            </a:r>
            <a:endParaRPr/>
          </a:p>
        </p:txBody>
      </p:sp>
      <p:pic>
        <p:nvPicPr>
          <p:cNvPr id="82" name="Google Shape;82;p17"/>
          <p:cNvPicPr preferRelativeResize="0"/>
          <p:nvPr/>
        </p:nvPicPr>
        <p:blipFill>
          <a:blip r:embed="rId3">
            <a:alphaModFix/>
          </a:blip>
          <a:stretch>
            <a:fillRect/>
          </a:stretch>
        </p:blipFill>
        <p:spPr>
          <a:xfrm>
            <a:off x="401025" y="1103300"/>
            <a:ext cx="4991101" cy="1722150"/>
          </a:xfrm>
          <a:prstGeom prst="rect">
            <a:avLst/>
          </a:prstGeom>
          <a:noFill/>
          <a:ln>
            <a:noFill/>
          </a:ln>
        </p:spPr>
      </p:pic>
      <p:cxnSp>
        <p:nvCxnSpPr>
          <p:cNvPr id="83" name="Google Shape;83;p17"/>
          <p:cNvCxnSpPr/>
          <p:nvPr/>
        </p:nvCxnSpPr>
        <p:spPr>
          <a:xfrm flipH="1">
            <a:off x="4757825" y="893525"/>
            <a:ext cx="283800" cy="765600"/>
          </a:xfrm>
          <a:prstGeom prst="straightConnector1">
            <a:avLst/>
          </a:prstGeom>
          <a:noFill/>
          <a:ln cap="flat" cmpd="sng" w="19050">
            <a:solidFill>
              <a:schemeClr val="accent5"/>
            </a:solidFill>
            <a:prstDash val="solid"/>
            <a:round/>
            <a:headEnd len="med" w="med" type="none"/>
            <a:tailEnd len="med" w="med" type="triangle"/>
          </a:ln>
        </p:spPr>
      </p:cxnSp>
      <p:pic>
        <p:nvPicPr>
          <p:cNvPr id="84" name="Google Shape;84;p17"/>
          <p:cNvPicPr preferRelativeResize="0"/>
          <p:nvPr/>
        </p:nvPicPr>
        <p:blipFill>
          <a:blip r:embed="rId4">
            <a:alphaModFix/>
          </a:blip>
          <a:stretch>
            <a:fillRect/>
          </a:stretch>
        </p:blipFill>
        <p:spPr>
          <a:xfrm>
            <a:off x="5878626" y="1103300"/>
            <a:ext cx="2721580" cy="3820976"/>
          </a:xfrm>
          <a:prstGeom prst="rect">
            <a:avLst/>
          </a:prstGeom>
          <a:noFill/>
          <a:ln>
            <a:noFill/>
          </a:ln>
        </p:spPr>
      </p:pic>
      <p:pic>
        <p:nvPicPr>
          <p:cNvPr id="85" name="Google Shape;85;p17"/>
          <p:cNvPicPr preferRelativeResize="0"/>
          <p:nvPr/>
        </p:nvPicPr>
        <p:blipFill>
          <a:blip r:embed="rId5">
            <a:alphaModFix/>
          </a:blip>
          <a:stretch>
            <a:fillRect/>
          </a:stretch>
        </p:blipFill>
        <p:spPr>
          <a:xfrm>
            <a:off x="612500" y="3098725"/>
            <a:ext cx="1133475" cy="1190625"/>
          </a:xfrm>
          <a:prstGeom prst="rect">
            <a:avLst/>
          </a:prstGeom>
          <a:noFill/>
          <a:ln>
            <a:noFill/>
          </a:ln>
        </p:spPr>
      </p:pic>
      <p:pic>
        <p:nvPicPr>
          <p:cNvPr id="86" name="Google Shape;86;p17"/>
          <p:cNvPicPr preferRelativeResize="0"/>
          <p:nvPr/>
        </p:nvPicPr>
        <p:blipFill>
          <a:blip r:embed="rId6">
            <a:alphaModFix/>
          </a:blip>
          <a:stretch>
            <a:fillRect/>
          </a:stretch>
        </p:blipFill>
        <p:spPr>
          <a:xfrm>
            <a:off x="2240675" y="3161025"/>
            <a:ext cx="3143250" cy="1743075"/>
          </a:xfrm>
          <a:prstGeom prst="rect">
            <a:avLst/>
          </a:prstGeom>
          <a:noFill/>
          <a:ln>
            <a:noFill/>
          </a:ln>
        </p:spPr>
      </p:pic>
      <p:sp>
        <p:nvSpPr>
          <p:cNvPr id="87" name="Google Shape;87;p17"/>
          <p:cNvSpPr txBox="1"/>
          <p:nvPr/>
        </p:nvSpPr>
        <p:spPr>
          <a:xfrm>
            <a:off x="117225" y="1056675"/>
            <a:ext cx="333300" cy="82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ca" sz="3600">
                <a:solidFill>
                  <a:srgbClr val="FFD966"/>
                </a:solidFill>
                <a:latin typeface="Average"/>
                <a:ea typeface="Average"/>
                <a:cs typeface="Average"/>
                <a:sym typeface="Average"/>
              </a:rPr>
              <a:t>1</a:t>
            </a:r>
            <a:endParaRPr sz="3600">
              <a:solidFill>
                <a:srgbClr val="FFD966"/>
              </a:solidFill>
              <a:latin typeface="Average"/>
              <a:ea typeface="Average"/>
              <a:cs typeface="Average"/>
              <a:sym typeface="Average"/>
            </a:endParaRPr>
          </a:p>
        </p:txBody>
      </p:sp>
      <p:sp>
        <p:nvSpPr>
          <p:cNvPr id="88" name="Google Shape;88;p17"/>
          <p:cNvSpPr txBox="1"/>
          <p:nvPr/>
        </p:nvSpPr>
        <p:spPr>
          <a:xfrm>
            <a:off x="5545325" y="781750"/>
            <a:ext cx="333300" cy="82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ca" sz="3600">
                <a:solidFill>
                  <a:srgbClr val="FFD966"/>
                </a:solidFill>
                <a:latin typeface="Average"/>
                <a:ea typeface="Average"/>
                <a:cs typeface="Average"/>
                <a:sym typeface="Average"/>
              </a:rPr>
              <a:t>2</a:t>
            </a:r>
            <a:endParaRPr sz="3600">
              <a:solidFill>
                <a:srgbClr val="FFD966"/>
              </a:solidFill>
              <a:latin typeface="Average"/>
              <a:ea typeface="Average"/>
              <a:cs typeface="Average"/>
              <a:sym typeface="Average"/>
            </a:endParaRPr>
          </a:p>
        </p:txBody>
      </p:sp>
      <p:sp>
        <p:nvSpPr>
          <p:cNvPr id="89" name="Google Shape;89;p17"/>
          <p:cNvSpPr txBox="1"/>
          <p:nvPr/>
        </p:nvSpPr>
        <p:spPr>
          <a:xfrm>
            <a:off x="311700" y="3226175"/>
            <a:ext cx="333300" cy="82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ca" sz="3600">
                <a:solidFill>
                  <a:srgbClr val="FFD966"/>
                </a:solidFill>
                <a:latin typeface="Average"/>
                <a:ea typeface="Average"/>
                <a:cs typeface="Average"/>
                <a:sym typeface="Average"/>
              </a:rPr>
              <a:t>3</a:t>
            </a:r>
            <a:endParaRPr sz="3600">
              <a:solidFill>
                <a:srgbClr val="FFD966"/>
              </a:solidFill>
              <a:latin typeface="Average"/>
              <a:ea typeface="Average"/>
              <a:cs typeface="Average"/>
              <a:sym typeface="Average"/>
            </a:endParaRPr>
          </a:p>
        </p:txBody>
      </p:sp>
      <p:sp>
        <p:nvSpPr>
          <p:cNvPr id="90" name="Google Shape;90;p17"/>
          <p:cNvSpPr txBox="1"/>
          <p:nvPr/>
        </p:nvSpPr>
        <p:spPr>
          <a:xfrm>
            <a:off x="1823800" y="3161025"/>
            <a:ext cx="333300" cy="82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ca" sz="3600">
                <a:solidFill>
                  <a:srgbClr val="FFD966"/>
                </a:solidFill>
                <a:latin typeface="Average"/>
                <a:ea typeface="Average"/>
                <a:cs typeface="Average"/>
                <a:sym typeface="Average"/>
              </a:rPr>
              <a:t>4</a:t>
            </a:r>
            <a:endParaRPr sz="3600">
              <a:solidFill>
                <a:srgbClr val="FFD966"/>
              </a:solidFill>
              <a:latin typeface="Average"/>
              <a:ea typeface="Average"/>
              <a:cs typeface="Average"/>
              <a:sym typeface="Averag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ca"/>
              <a:t>How to </a:t>
            </a:r>
            <a:r>
              <a:rPr b="1" lang="ca"/>
              <a:t>use </a:t>
            </a:r>
            <a:r>
              <a:rPr lang="ca"/>
              <a:t>a Scriptable Object</a:t>
            </a:r>
            <a:endParaRPr/>
          </a:p>
        </p:txBody>
      </p:sp>
      <p:pic>
        <p:nvPicPr>
          <p:cNvPr id="96" name="Google Shape;96;p18"/>
          <p:cNvPicPr preferRelativeResize="0"/>
          <p:nvPr/>
        </p:nvPicPr>
        <p:blipFill>
          <a:blip r:embed="rId3">
            <a:alphaModFix/>
          </a:blip>
          <a:stretch>
            <a:fillRect/>
          </a:stretch>
        </p:blipFill>
        <p:spPr>
          <a:xfrm>
            <a:off x="4930725" y="1103200"/>
            <a:ext cx="3409950" cy="2819400"/>
          </a:xfrm>
          <a:prstGeom prst="rect">
            <a:avLst/>
          </a:prstGeom>
          <a:noFill/>
          <a:ln>
            <a:noFill/>
          </a:ln>
        </p:spPr>
      </p:pic>
      <p:pic>
        <p:nvPicPr>
          <p:cNvPr id="97" name="Google Shape;97;p18"/>
          <p:cNvPicPr preferRelativeResize="0"/>
          <p:nvPr/>
        </p:nvPicPr>
        <p:blipFill>
          <a:blip r:embed="rId4">
            <a:alphaModFix/>
          </a:blip>
          <a:stretch>
            <a:fillRect/>
          </a:stretch>
        </p:blipFill>
        <p:spPr>
          <a:xfrm>
            <a:off x="983750" y="1283888"/>
            <a:ext cx="3538200" cy="2458028"/>
          </a:xfrm>
          <a:prstGeom prst="rect">
            <a:avLst/>
          </a:prstGeom>
          <a:noFill/>
          <a:ln>
            <a:noFill/>
          </a:ln>
        </p:spPr>
      </p:pic>
      <p:pic>
        <p:nvPicPr>
          <p:cNvPr id="98" name="Google Shape;98;p18"/>
          <p:cNvPicPr preferRelativeResize="0"/>
          <p:nvPr/>
        </p:nvPicPr>
        <p:blipFill>
          <a:blip r:embed="rId5">
            <a:alphaModFix/>
          </a:blip>
          <a:stretch>
            <a:fillRect/>
          </a:stretch>
        </p:blipFill>
        <p:spPr>
          <a:xfrm>
            <a:off x="311700" y="3774150"/>
            <a:ext cx="1133475" cy="1190625"/>
          </a:xfrm>
          <a:prstGeom prst="rect">
            <a:avLst/>
          </a:prstGeom>
          <a:noFill/>
          <a:ln>
            <a:noFill/>
          </a:ln>
        </p:spPr>
      </p:pic>
      <p:cxnSp>
        <p:nvCxnSpPr>
          <p:cNvPr id="99" name="Google Shape;99;p18"/>
          <p:cNvCxnSpPr/>
          <p:nvPr/>
        </p:nvCxnSpPr>
        <p:spPr>
          <a:xfrm flipH="1" rot="10800000">
            <a:off x="1437375" y="3302050"/>
            <a:ext cx="971400" cy="551700"/>
          </a:xfrm>
          <a:prstGeom prst="straightConnector1">
            <a:avLst/>
          </a:prstGeom>
          <a:noFill/>
          <a:ln cap="flat" cmpd="sng" w="19050">
            <a:solidFill>
              <a:schemeClr val="accent5"/>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311700" y="323425"/>
            <a:ext cx="8517000" cy="442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ca" sz="2790"/>
              <a:t>Okey Eric,</a:t>
            </a:r>
            <a:endParaRPr b="1" sz="2790"/>
          </a:p>
          <a:p>
            <a:pPr indent="0" lvl="0" marL="0" rtl="0" algn="ctr">
              <a:spcBef>
                <a:spcPts val="0"/>
              </a:spcBef>
              <a:spcAft>
                <a:spcPts val="0"/>
              </a:spcAft>
              <a:buSzPts val="990"/>
              <a:buNone/>
            </a:pPr>
            <a:r>
              <a:t/>
            </a:r>
            <a:endParaRPr b="1" sz="2790"/>
          </a:p>
          <a:p>
            <a:pPr indent="0" lvl="0" marL="0" rtl="0" algn="ctr">
              <a:spcBef>
                <a:spcPts val="0"/>
              </a:spcBef>
              <a:spcAft>
                <a:spcPts val="0"/>
              </a:spcAft>
              <a:buSzPts val="990"/>
              <a:buNone/>
            </a:pPr>
            <a:r>
              <a:rPr b="1" lang="ca" sz="2790"/>
              <a:t> amazing, but actually…</a:t>
            </a:r>
            <a:endParaRPr b="1" sz="2790"/>
          </a:p>
          <a:p>
            <a:pPr indent="0" lvl="0" marL="0" rtl="0" algn="ctr">
              <a:spcBef>
                <a:spcPts val="0"/>
              </a:spcBef>
              <a:spcAft>
                <a:spcPts val="0"/>
              </a:spcAft>
              <a:buSzPts val="990"/>
              <a:buNone/>
            </a:pPr>
            <a:r>
              <a:t/>
            </a:r>
            <a:endParaRPr b="1" sz="2790"/>
          </a:p>
          <a:p>
            <a:pPr indent="0" lvl="0" marL="0" rtl="0" algn="ctr">
              <a:spcBef>
                <a:spcPts val="0"/>
              </a:spcBef>
              <a:spcAft>
                <a:spcPts val="0"/>
              </a:spcAft>
              <a:buSzPts val="990"/>
              <a:buNone/>
            </a:pPr>
            <a:r>
              <a:rPr b="1" lang="ca" sz="4090"/>
              <a:t> Why do not simply use a non-mono c# class instead? </a:t>
            </a:r>
            <a:endParaRPr b="1" sz="4090"/>
          </a:p>
          <a:p>
            <a:pPr indent="0" lvl="0" marL="0" rtl="0" algn="ctr">
              <a:spcBef>
                <a:spcPts val="0"/>
              </a:spcBef>
              <a:spcAft>
                <a:spcPts val="0"/>
              </a:spcAft>
              <a:buSzPts val="990"/>
              <a:buNone/>
            </a:pPr>
            <a:r>
              <a:t/>
            </a:r>
            <a:endParaRPr b="1" sz="2790"/>
          </a:p>
          <a:p>
            <a:pPr indent="0" lvl="0" marL="0" rtl="0" algn="ctr">
              <a:spcBef>
                <a:spcPts val="0"/>
              </a:spcBef>
              <a:spcAft>
                <a:spcPts val="0"/>
              </a:spcAft>
              <a:buSzPts val="990"/>
              <a:buNone/>
            </a:pPr>
            <a:r>
              <a:rPr b="1" lang="ca" sz="2790"/>
              <a:t>something like: </a:t>
            </a:r>
            <a:endParaRPr sz="2790"/>
          </a:p>
        </p:txBody>
      </p:sp>
      <p:pic>
        <p:nvPicPr>
          <p:cNvPr id="105" name="Google Shape;105;p19"/>
          <p:cNvPicPr preferRelativeResize="0"/>
          <p:nvPr/>
        </p:nvPicPr>
        <p:blipFill>
          <a:blip r:embed="rId3">
            <a:alphaModFix/>
          </a:blip>
          <a:stretch>
            <a:fillRect/>
          </a:stretch>
        </p:blipFill>
        <p:spPr>
          <a:xfrm>
            <a:off x="7544325" y="3602000"/>
            <a:ext cx="1599675" cy="1541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20"/>
          <p:cNvPicPr preferRelativeResize="0"/>
          <p:nvPr/>
        </p:nvPicPr>
        <p:blipFill>
          <a:blip r:embed="rId3">
            <a:alphaModFix/>
          </a:blip>
          <a:stretch>
            <a:fillRect/>
          </a:stretch>
        </p:blipFill>
        <p:spPr>
          <a:xfrm>
            <a:off x="548650" y="2784238"/>
            <a:ext cx="3852414" cy="2317713"/>
          </a:xfrm>
          <a:prstGeom prst="rect">
            <a:avLst/>
          </a:prstGeom>
          <a:noFill/>
          <a:ln>
            <a:noFill/>
          </a:ln>
        </p:spPr>
      </p:pic>
      <p:pic>
        <p:nvPicPr>
          <p:cNvPr id="111" name="Google Shape;111;p20"/>
          <p:cNvPicPr preferRelativeResize="0"/>
          <p:nvPr/>
        </p:nvPicPr>
        <p:blipFill>
          <a:blip r:embed="rId4">
            <a:alphaModFix/>
          </a:blip>
          <a:stretch>
            <a:fillRect/>
          </a:stretch>
        </p:blipFill>
        <p:spPr>
          <a:xfrm>
            <a:off x="1393838" y="257525"/>
            <a:ext cx="6356327" cy="2368588"/>
          </a:xfrm>
          <a:prstGeom prst="rect">
            <a:avLst/>
          </a:prstGeom>
          <a:noFill/>
          <a:ln>
            <a:noFill/>
          </a:ln>
        </p:spPr>
      </p:pic>
      <p:pic>
        <p:nvPicPr>
          <p:cNvPr id="112" name="Google Shape;112;p20"/>
          <p:cNvPicPr preferRelativeResize="0"/>
          <p:nvPr/>
        </p:nvPicPr>
        <p:blipFill>
          <a:blip r:embed="rId5">
            <a:alphaModFix/>
          </a:blip>
          <a:stretch>
            <a:fillRect/>
          </a:stretch>
        </p:blipFill>
        <p:spPr>
          <a:xfrm>
            <a:off x="5369289" y="2809613"/>
            <a:ext cx="2694071" cy="226696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21"/>
          <p:cNvPicPr preferRelativeResize="0"/>
          <p:nvPr/>
        </p:nvPicPr>
        <p:blipFill>
          <a:blip r:embed="rId3">
            <a:alphaModFix/>
          </a:blip>
          <a:stretch>
            <a:fillRect/>
          </a:stretch>
        </p:blipFill>
        <p:spPr>
          <a:xfrm>
            <a:off x="1041125" y="495550"/>
            <a:ext cx="6893524" cy="3873725"/>
          </a:xfrm>
          <a:prstGeom prst="rect">
            <a:avLst/>
          </a:prstGeom>
          <a:noFill/>
          <a:ln>
            <a:noFill/>
          </a:ln>
        </p:spPr>
      </p:pic>
      <p:sp>
        <p:nvSpPr>
          <p:cNvPr id="118" name="Google Shape;118;p21"/>
          <p:cNvSpPr txBox="1"/>
          <p:nvPr>
            <p:ph type="title"/>
          </p:nvPr>
        </p:nvSpPr>
        <p:spPr>
          <a:xfrm>
            <a:off x="5368825" y="4413175"/>
            <a:ext cx="6327000" cy="104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ca" sz="2790"/>
              <a:t>But…</a:t>
            </a:r>
            <a:endParaRPr sz="279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22"/>
          <p:cNvPicPr preferRelativeResize="0"/>
          <p:nvPr/>
        </p:nvPicPr>
        <p:blipFill>
          <a:blip r:embed="rId3">
            <a:alphaModFix/>
          </a:blip>
          <a:stretch>
            <a:fillRect/>
          </a:stretch>
        </p:blipFill>
        <p:spPr>
          <a:xfrm>
            <a:off x="144850" y="691500"/>
            <a:ext cx="3988600" cy="4053075"/>
          </a:xfrm>
          <a:prstGeom prst="rect">
            <a:avLst/>
          </a:prstGeom>
          <a:noFill/>
          <a:ln>
            <a:noFill/>
          </a:ln>
        </p:spPr>
      </p:pic>
      <p:cxnSp>
        <p:nvCxnSpPr>
          <p:cNvPr id="124" name="Google Shape;124;p22"/>
          <p:cNvCxnSpPr/>
          <p:nvPr/>
        </p:nvCxnSpPr>
        <p:spPr>
          <a:xfrm>
            <a:off x="4125700" y="1305338"/>
            <a:ext cx="1142100" cy="0"/>
          </a:xfrm>
          <a:prstGeom prst="straightConnector1">
            <a:avLst/>
          </a:prstGeom>
          <a:noFill/>
          <a:ln cap="flat" cmpd="sng" w="19050">
            <a:solidFill>
              <a:schemeClr val="accent5"/>
            </a:solidFill>
            <a:prstDash val="solid"/>
            <a:round/>
            <a:headEnd len="med" w="med" type="none"/>
            <a:tailEnd len="med" w="med" type="triangle"/>
          </a:ln>
        </p:spPr>
      </p:cxnSp>
      <p:cxnSp>
        <p:nvCxnSpPr>
          <p:cNvPr id="125" name="Google Shape;125;p22"/>
          <p:cNvCxnSpPr/>
          <p:nvPr/>
        </p:nvCxnSpPr>
        <p:spPr>
          <a:xfrm>
            <a:off x="4076075" y="3470038"/>
            <a:ext cx="1142100" cy="0"/>
          </a:xfrm>
          <a:prstGeom prst="straightConnector1">
            <a:avLst/>
          </a:prstGeom>
          <a:noFill/>
          <a:ln cap="flat" cmpd="sng" w="19050">
            <a:solidFill>
              <a:schemeClr val="accent5"/>
            </a:solidFill>
            <a:prstDash val="solid"/>
            <a:round/>
            <a:headEnd len="med" w="med" type="none"/>
            <a:tailEnd len="med" w="med" type="triangle"/>
          </a:ln>
        </p:spPr>
      </p:cxnSp>
      <p:sp>
        <p:nvSpPr>
          <p:cNvPr id="126" name="Google Shape;126;p22"/>
          <p:cNvSpPr/>
          <p:nvPr/>
        </p:nvSpPr>
        <p:spPr>
          <a:xfrm>
            <a:off x="5594175" y="947900"/>
            <a:ext cx="971100" cy="714900"/>
          </a:xfrm>
          <a:prstGeom prst="can">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27" name="Google Shape;127;p22"/>
          <p:cNvSpPr/>
          <p:nvPr/>
        </p:nvSpPr>
        <p:spPr>
          <a:xfrm>
            <a:off x="5648550" y="3112600"/>
            <a:ext cx="971100" cy="714900"/>
          </a:xfrm>
          <a:prstGeom prst="can">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28" name="Google Shape;128;p22"/>
          <p:cNvSpPr txBox="1"/>
          <p:nvPr/>
        </p:nvSpPr>
        <p:spPr>
          <a:xfrm>
            <a:off x="6720750" y="982200"/>
            <a:ext cx="2315400" cy="52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ca" sz="1800">
                <a:solidFill>
                  <a:schemeClr val="accent3"/>
                </a:solidFill>
                <a:latin typeface="Average"/>
                <a:ea typeface="Average"/>
                <a:cs typeface="Average"/>
                <a:sym typeface="Average"/>
              </a:rPr>
              <a:t>Piece of memory #1 used to store this variable</a:t>
            </a:r>
            <a:endParaRPr sz="1800">
              <a:solidFill>
                <a:schemeClr val="accent3"/>
              </a:solidFill>
              <a:latin typeface="Average"/>
              <a:ea typeface="Average"/>
              <a:cs typeface="Average"/>
              <a:sym typeface="Average"/>
            </a:endParaRPr>
          </a:p>
        </p:txBody>
      </p:sp>
      <p:sp>
        <p:nvSpPr>
          <p:cNvPr id="129" name="Google Shape;129;p22"/>
          <p:cNvSpPr txBox="1"/>
          <p:nvPr/>
        </p:nvSpPr>
        <p:spPr>
          <a:xfrm>
            <a:off x="6775100" y="3209050"/>
            <a:ext cx="2315400" cy="52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ca" sz="1800">
                <a:solidFill>
                  <a:schemeClr val="accent3"/>
                </a:solidFill>
                <a:latin typeface="Average"/>
                <a:ea typeface="Average"/>
                <a:cs typeface="Average"/>
                <a:sym typeface="Average"/>
              </a:rPr>
              <a:t>Piece of memory #2 used to store this variable</a:t>
            </a:r>
            <a:endParaRPr sz="1800">
              <a:solidFill>
                <a:schemeClr val="accent3"/>
              </a:solidFill>
              <a:latin typeface="Average"/>
              <a:ea typeface="Average"/>
              <a:cs typeface="Average"/>
              <a:sym typeface="Averag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23"/>
          <p:cNvPicPr preferRelativeResize="0"/>
          <p:nvPr/>
        </p:nvPicPr>
        <p:blipFill>
          <a:blip r:embed="rId3">
            <a:alphaModFix/>
          </a:blip>
          <a:stretch>
            <a:fillRect/>
          </a:stretch>
        </p:blipFill>
        <p:spPr>
          <a:xfrm>
            <a:off x="144850" y="924600"/>
            <a:ext cx="3848750" cy="3910949"/>
          </a:xfrm>
          <a:prstGeom prst="rect">
            <a:avLst/>
          </a:prstGeom>
          <a:noFill/>
          <a:ln>
            <a:noFill/>
          </a:ln>
        </p:spPr>
      </p:pic>
      <p:cxnSp>
        <p:nvCxnSpPr>
          <p:cNvPr id="135" name="Google Shape;135;p23"/>
          <p:cNvCxnSpPr/>
          <p:nvPr/>
        </p:nvCxnSpPr>
        <p:spPr>
          <a:xfrm>
            <a:off x="4167625" y="1453000"/>
            <a:ext cx="939900" cy="745800"/>
          </a:xfrm>
          <a:prstGeom prst="straightConnector1">
            <a:avLst/>
          </a:prstGeom>
          <a:noFill/>
          <a:ln cap="flat" cmpd="sng" w="19050">
            <a:solidFill>
              <a:schemeClr val="accent5"/>
            </a:solidFill>
            <a:prstDash val="solid"/>
            <a:round/>
            <a:headEnd len="med" w="med" type="none"/>
            <a:tailEnd len="med" w="med" type="triangle"/>
          </a:ln>
        </p:spPr>
      </p:cxnSp>
      <p:cxnSp>
        <p:nvCxnSpPr>
          <p:cNvPr id="136" name="Google Shape;136;p23"/>
          <p:cNvCxnSpPr/>
          <p:nvPr/>
        </p:nvCxnSpPr>
        <p:spPr>
          <a:xfrm flipH="1" rot="10800000">
            <a:off x="4063525" y="2750500"/>
            <a:ext cx="1028700" cy="564300"/>
          </a:xfrm>
          <a:prstGeom prst="straightConnector1">
            <a:avLst/>
          </a:prstGeom>
          <a:noFill/>
          <a:ln cap="flat" cmpd="sng" w="19050">
            <a:solidFill>
              <a:schemeClr val="accent5"/>
            </a:solidFill>
            <a:prstDash val="solid"/>
            <a:round/>
            <a:headEnd len="med" w="med" type="none"/>
            <a:tailEnd len="med" w="med" type="triangle"/>
          </a:ln>
        </p:spPr>
      </p:cxnSp>
      <p:pic>
        <p:nvPicPr>
          <p:cNvPr id="137" name="Google Shape;137;p23"/>
          <p:cNvPicPr preferRelativeResize="0"/>
          <p:nvPr/>
        </p:nvPicPr>
        <p:blipFill>
          <a:blip r:embed="rId4">
            <a:alphaModFix/>
          </a:blip>
          <a:stretch>
            <a:fillRect/>
          </a:stretch>
        </p:blipFill>
        <p:spPr>
          <a:xfrm>
            <a:off x="5205625" y="1754087"/>
            <a:ext cx="1133475" cy="1190625"/>
          </a:xfrm>
          <a:prstGeom prst="rect">
            <a:avLst/>
          </a:prstGeom>
          <a:noFill/>
          <a:ln>
            <a:noFill/>
          </a:ln>
        </p:spPr>
      </p:pic>
      <p:sp>
        <p:nvSpPr>
          <p:cNvPr id="138" name="Google Shape;138;p23"/>
          <p:cNvSpPr txBox="1"/>
          <p:nvPr/>
        </p:nvSpPr>
        <p:spPr>
          <a:xfrm>
            <a:off x="6607175" y="2088388"/>
            <a:ext cx="2315400" cy="52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ca" sz="1800">
                <a:solidFill>
                  <a:schemeClr val="accent3"/>
                </a:solidFill>
                <a:latin typeface="Average"/>
                <a:ea typeface="Average"/>
                <a:cs typeface="Average"/>
                <a:sym typeface="Average"/>
              </a:rPr>
              <a:t>Piece of memory used to store this variable</a:t>
            </a:r>
            <a:endParaRPr sz="1800">
              <a:solidFill>
                <a:schemeClr val="accent3"/>
              </a:solidFill>
              <a:latin typeface="Average"/>
              <a:ea typeface="Average"/>
              <a:cs typeface="Average"/>
              <a:sym typeface="Average"/>
            </a:endParaRPr>
          </a:p>
        </p:txBody>
      </p:sp>
      <p:sp>
        <p:nvSpPr>
          <p:cNvPr id="139" name="Google Shape;139;p23"/>
          <p:cNvSpPr txBox="1"/>
          <p:nvPr/>
        </p:nvSpPr>
        <p:spPr>
          <a:xfrm>
            <a:off x="4817175" y="3608263"/>
            <a:ext cx="2315400" cy="52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accent3"/>
              </a:solidFill>
              <a:latin typeface="Average"/>
              <a:ea typeface="Average"/>
              <a:cs typeface="Average"/>
              <a:sym typeface="Average"/>
            </a:endParaRPr>
          </a:p>
        </p:txBody>
      </p:sp>
      <p:sp>
        <p:nvSpPr>
          <p:cNvPr id="140" name="Google Shape;140;p23"/>
          <p:cNvSpPr/>
          <p:nvPr/>
        </p:nvSpPr>
        <p:spPr>
          <a:xfrm>
            <a:off x="4475325" y="4089750"/>
            <a:ext cx="4268700" cy="745800"/>
          </a:xfrm>
          <a:prstGeom prst="roundRect">
            <a:avLst>
              <a:gd fmla="val 16667" name="adj"/>
            </a:avLst>
          </a:prstGeom>
          <a:solidFill>
            <a:srgbClr val="FFD966"/>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ca">
                <a:latin typeface="Average"/>
                <a:ea typeface="Average"/>
                <a:cs typeface="Average"/>
                <a:sym typeface="Average"/>
              </a:rPr>
              <a:t>That means that if you change the value of the Scriptable Object item, it will be reflected in both </a:t>
            </a:r>
            <a:r>
              <a:rPr lang="ca">
                <a:latin typeface="Average"/>
                <a:ea typeface="Average"/>
                <a:cs typeface="Average"/>
                <a:sym typeface="Average"/>
              </a:rPr>
              <a:t>classes</a:t>
            </a:r>
            <a:r>
              <a:rPr lang="ca">
                <a:latin typeface="Average"/>
                <a:ea typeface="Average"/>
                <a:cs typeface="Average"/>
                <a:sym typeface="Average"/>
              </a:rPr>
              <a:t>!</a:t>
            </a:r>
            <a:endParaRPr>
              <a:latin typeface="Average"/>
              <a:ea typeface="Average"/>
              <a:cs typeface="Average"/>
              <a:sym typeface="Averag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ca"/>
              <a:t>What are Scriptable Objects</a:t>
            </a:r>
            <a:endParaRPr/>
          </a:p>
          <a:p>
            <a:pPr indent="0" lvl="0" marL="0" rtl="0" algn="l">
              <a:spcBef>
                <a:spcPts val="0"/>
              </a:spcBef>
              <a:spcAft>
                <a:spcPts val="0"/>
              </a:spcAft>
              <a:buNone/>
            </a:pPr>
            <a:r>
              <a:t/>
            </a:r>
            <a:endParaRPr/>
          </a:p>
        </p:txBody>
      </p:sp>
      <p:sp>
        <p:nvSpPr>
          <p:cNvPr id="146" name="Google Shape;146;p24"/>
          <p:cNvSpPr txBox="1"/>
          <p:nvPr>
            <p:ph idx="1" type="body"/>
          </p:nvPr>
        </p:nvSpPr>
        <p:spPr>
          <a:xfrm>
            <a:off x="311700" y="1152475"/>
            <a:ext cx="64167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ca"/>
              <a:t>SO’s are serializable data containers</a:t>
            </a:r>
            <a:endParaRPr/>
          </a:p>
          <a:p>
            <a:pPr indent="-342900" lvl="0" marL="457200" rtl="0" algn="l">
              <a:spcBef>
                <a:spcPts val="0"/>
              </a:spcBef>
              <a:spcAft>
                <a:spcPts val="0"/>
              </a:spcAft>
              <a:buSzPts val="1800"/>
              <a:buChar char="-"/>
            </a:pPr>
            <a:r>
              <a:rPr lang="ca"/>
              <a:t>They exist in the project, not the scene</a:t>
            </a:r>
            <a:endParaRPr/>
          </a:p>
          <a:p>
            <a:pPr indent="-342900" lvl="0" marL="457200" rtl="0" algn="l">
              <a:spcBef>
                <a:spcPts val="0"/>
              </a:spcBef>
              <a:spcAft>
                <a:spcPts val="0"/>
              </a:spcAft>
              <a:buSzPts val="1800"/>
              <a:buChar char="-"/>
            </a:pPr>
            <a:r>
              <a:rPr lang="ca"/>
              <a:t>That makes them </a:t>
            </a:r>
            <a:r>
              <a:rPr lang="ca"/>
              <a:t>independent of: </a:t>
            </a:r>
            <a:endParaRPr/>
          </a:p>
          <a:p>
            <a:pPr indent="-317500" lvl="1" marL="914400" rtl="0" algn="l">
              <a:spcBef>
                <a:spcPts val="0"/>
              </a:spcBef>
              <a:spcAft>
                <a:spcPts val="0"/>
              </a:spcAft>
              <a:buSzPts val="1400"/>
              <a:buChar char="-"/>
            </a:pPr>
            <a:r>
              <a:rPr lang="ca"/>
              <a:t>game objects</a:t>
            </a:r>
            <a:endParaRPr/>
          </a:p>
          <a:p>
            <a:pPr indent="-317500" lvl="1" marL="914400" rtl="0" algn="l">
              <a:spcBef>
                <a:spcPts val="0"/>
              </a:spcBef>
              <a:spcAft>
                <a:spcPts val="0"/>
              </a:spcAft>
              <a:buSzPts val="1400"/>
              <a:buChar char="-"/>
            </a:pPr>
            <a:r>
              <a:rPr lang="ca"/>
              <a:t>execution time</a:t>
            </a:r>
            <a:endParaRPr/>
          </a:p>
          <a:p>
            <a:pPr indent="-342900" lvl="0" marL="457200" rtl="0" algn="l">
              <a:spcBef>
                <a:spcPts val="0"/>
              </a:spcBef>
              <a:spcAft>
                <a:spcPts val="0"/>
              </a:spcAft>
              <a:buSzPts val="1800"/>
              <a:buChar char="-"/>
            </a:pPr>
            <a:r>
              <a:rPr lang="ca"/>
              <a:t>They persist outside execution time</a:t>
            </a:r>
            <a:endParaRPr/>
          </a:p>
          <a:p>
            <a:pPr indent="-342900" lvl="0" marL="457200" rtl="0" algn="l">
              <a:spcBef>
                <a:spcPts val="0"/>
              </a:spcBef>
              <a:spcAft>
                <a:spcPts val="0"/>
              </a:spcAft>
              <a:buSzPts val="1800"/>
              <a:buChar char="-"/>
            </a:pPr>
            <a:r>
              <a:rPr lang="ca"/>
              <a:t>They can be used to avoid rigid dependencies and code duplicates</a:t>
            </a:r>
            <a:endParaRPr/>
          </a:p>
          <a:p>
            <a:pPr indent="-342900" lvl="0" marL="457200" rtl="0" algn="l">
              <a:spcBef>
                <a:spcPts val="0"/>
              </a:spcBef>
              <a:spcAft>
                <a:spcPts val="0"/>
              </a:spcAft>
              <a:buSzPts val="1800"/>
              <a:buChar char="-"/>
            </a:pPr>
            <a:r>
              <a:rPr lang="ca"/>
              <a:t>Facilitate maintenance and project scalability</a:t>
            </a:r>
            <a:endParaRPr/>
          </a:p>
        </p:txBody>
      </p:sp>
      <p:pic>
        <p:nvPicPr>
          <p:cNvPr id="147" name="Google Shape;147;p24"/>
          <p:cNvPicPr preferRelativeResize="0"/>
          <p:nvPr/>
        </p:nvPicPr>
        <p:blipFill>
          <a:blip r:embed="rId3">
            <a:alphaModFix/>
          </a:blip>
          <a:stretch>
            <a:fillRect/>
          </a:stretch>
        </p:blipFill>
        <p:spPr>
          <a:xfrm>
            <a:off x="6728400" y="2731474"/>
            <a:ext cx="2415601" cy="24120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5"/>
          <p:cNvSpPr txBox="1"/>
          <p:nvPr>
            <p:ph type="title"/>
          </p:nvPr>
        </p:nvSpPr>
        <p:spPr>
          <a:xfrm>
            <a:off x="311700" y="323425"/>
            <a:ext cx="8517000" cy="4602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ca" sz="2790"/>
              <a:t>Okey okey…but I’m not a designer, </a:t>
            </a:r>
            <a:endParaRPr b="1" sz="2790"/>
          </a:p>
          <a:p>
            <a:pPr indent="0" lvl="0" marL="0" rtl="0" algn="ctr">
              <a:spcBef>
                <a:spcPts val="0"/>
              </a:spcBef>
              <a:spcAft>
                <a:spcPts val="0"/>
              </a:spcAft>
              <a:buSzPts val="990"/>
              <a:buNone/>
            </a:pPr>
            <a:r>
              <a:rPr b="1" lang="ca" sz="2790"/>
              <a:t>I KNOW how to code</a:t>
            </a:r>
            <a:endParaRPr b="1" sz="2790"/>
          </a:p>
          <a:p>
            <a:pPr indent="0" lvl="0" marL="0" rtl="0" algn="ctr">
              <a:spcBef>
                <a:spcPts val="0"/>
              </a:spcBef>
              <a:spcAft>
                <a:spcPts val="0"/>
              </a:spcAft>
              <a:buSzPts val="990"/>
              <a:buNone/>
            </a:pPr>
            <a:r>
              <a:t/>
            </a:r>
            <a:endParaRPr b="1" sz="2790"/>
          </a:p>
          <a:p>
            <a:pPr indent="0" lvl="0" marL="0" rtl="0" algn="ctr">
              <a:spcBef>
                <a:spcPts val="0"/>
              </a:spcBef>
              <a:spcAft>
                <a:spcPts val="0"/>
              </a:spcAft>
              <a:buSzPts val="990"/>
              <a:buNone/>
            </a:pPr>
            <a:r>
              <a:t/>
            </a:r>
            <a:endParaRPr b="1" sz="2790"/>
          </a:p>
          <a:p>
            <a:pPr indent="0" lvl="0" marL="0" rtl="0" algn="ctr">
              <a:spcBef>
                <a:spcPts val="0"/>
              </a:spcBef>
              <a:spcAft>
                <a:spcPts val="0"/>
              </a:spcAft>
              <a:buSzPts val="990"/>
              <a:buNone/>
            </a:pPr>
            <a:r>
              <a:t/>
            </a:r>
            <a:endParaRPr b="1" sz="2790"/>
          </a:p>
          <a:p>
            <a:pPr indent="0" lvl="0" marL="0" rtl="0" algn="ctr">
              <a:spcBef>
                <a:spcPts val="0"/>
              </a:spcBef>
              <a:spcAft>
                <a:spcPts val="0"/>
              </a:spcAft>
              <a:buSzPts val="990"/>
              <a:buNone/>
            </a:pPr>
            <a:r>
              <a:t/>
            </a:r>
            <a:endParaRPr b="1" sz="2790"/>
          </a:p>
          <a:p>
            <a:pPr indent="0" lvl="0" marL="0" rtl="0" algn="ctr">
              <a:spcBef>
                <a:spcPts val="0"/>
              </a:spcBef>
              <a:spcAft>
                <a:spcPts val="0"/>
              </a:spcAft>
              <a:buSzPts val="990"/>
              <a:buNone/>
            </a:pPr>
            <a:r>
              <a:t/>
            </a:r>
            <a:endParaRPr b="1" sz="2790"/>
          </a:p>
          <a:p>
            <a:pPr indent="0" lvl="0" marL="0" rtl="0" algn="ctr">
              <a:spcBef>
                <a:spcPts val="0"/>
              </a:spcBef>
              <a:spcAft>
                <a:spcPts val="0"/>
              </a:spcAft>
              <a:buSzPts val="990"/>
              <a:buNone/>
            </a:pPr>
            <a:r>
              <a:t/>
            </a:r>
            <a:endParaRPr b="1" sz="2790"/>
          </a:p>
          <a:p>
            <a:pPr indent="0" lvl="0" marL="0" rtl="0" algn="ctr">
              <a:spcBef>
                <a:spcPts val="0"/>
              </a:spcBef>
              <a:spcAft>
                <a:spcPts val="0"/>
              </a:spcAft>
              <a:buSzPts val="990"/>
              <a:buNone/>
            </a:pPr>
            <a:r>
              <a:rPr b="1" lang="ca" sz="2790"/>
              <a:t>EXERCISE!</a:t>
            </a:r>
            <a:endParaRPr b="1" sz="2790"/>
          </a:p>
        </p:txBody>
      </p:sp>
      <p:pic>
        <p:nvPicPr>
          <p:cNvPr id="153" name="Google Shape;153;p25"/>
          <p:cNvPicPr preferRelativeResize="0"/>
          <p:nvPr/>
        </p:nvPicPr>
        <p:blipFill>
          <a:blip r:embed="rId3">
            <a:alphaModFix/>
          </a:blip>
          <a:stretch>
            <a:fillRect/>
          </a:stretch>
        </p:blipFill>
        <p:spPr>
          <a:xfrm>
            <a:off x="3664125" y="1788150"/>
            <a:ext cx="2095500" cy="2095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ca"/>
              <a:t>Exercise</a:t>
            </a:r>
            <a:endParaRPr/>
          </a:p>
          <a:p>
            <a:pPr indent="0" lvl="0" marL="0" rtl="0" algn="l">
              <a:spcBef>
                <a:spcPts val="0"/>
              </a:spcBef>
              <a:spcAft>
                <a:spcPts val="0"/>
              </a:spcAft>
              <a:buNone/>
            </a:pPr>
            <a:r>
              <a:t/>
            </a:r>
            <a:endParaRPr/>
          </a:p>
        </p:txBody>
      </p:sp>
      <p:sp>
        <p:nvSpPr>
          <p:cNvPr id="159" name="Google Shape;159;p26"/>
          <p:cNvSpPr txBox="1"/>
          <p:nvPr>
            <p:ph idx="1" type="body"/>
          </p:nvPr>
        </p:nvSpPr>
        <p:spPr>
          <a:xfrm>
            <a:off x="311700" y="1152475"/>
            <a:ext cx="64167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ca"/>
              <a:t>Let’s try to modify the </a:t>
            </a:r>
            <a:r>
              <a:rPr lang="ca"/>
              <a:t>existing</a:t>
            </a:r>
            <a:r>
              <a:rPr lang="ca"/>
              <a:t> project:</a:t>
            </a:r>
            <a:endParaRPr/>
          </a:p>
          <a:p>
            <a:pPr indent="-317500" lvl="1" marL="914400" rtl="0" algn="l">
              <a:lnSpc>
                <a:spcPct val="150000"/>
              </a:lnSpc>
              <a:spcBef>
                <a:spcPts val="0"/>
              </a:spcBef>
              <a:spcAft>
                <a:spcPts val="0"/>
              </a:spcAft>
              <a:buSzPts val="1400"/>
              <a:buChar char="-"/>
            </a:pPr>
            <a:r>
              <a:rPr lang="ca"/>
              <a:t>Increase attack damage of Archers from 1.5 to 3</a:t>
            </a:r>
            <a:endParaRPr/>
          </a:p>
          <a:p>
            <a:pPr indent="-317500" lvl="1" marL="914400" rtl="0" algn="l">
              <a:lnSpc>
                <a:spcPct val="150000"/>
              </a:lnSpc>
              <a:spcBef>
                <a:spcPts val="0"/>
              </a:spcBef>
              <a:spcAft>
                <a:spcPts val="0"/>
              </a:spcAft>
              <a:buSzPts val="1400"/>
              <a:buChar char="-"/>
            </a:pPr>
            <a:r>
              <a:rPr lang="ca"/>
              <a:t>Spawn two mages instead of 1</a:t>
            </a:r>
            <a:endParaRPr/>
          </a:p>
          <a:p>
            <a:pPr indent="-317500" lvl="1" marL="914400" rtl="0" algn="l">
              <a:lnSpc>
                <a:spcPct val="150000"/>
              </a:lnSpc>
              <a:spcBef>
                <a:spcPts val="0"/>
              </a:spcBef>
              <a:spcAft>
                <a:spcPts val="0"/>
              </a:spcAft>
              <a:buSzPts val="1400"/>
              <a:buChar char="-"/>
            </a:pPr>
            <a:r>
              <a:rPr lang="ca"/>
              <a:t>Spawn 2 archers instead of 3</a:t>
            </a:r>
            <a:endParaRPr/>
          </a:p>
          <a:p>
            <a:pPr indent="-317500" lvl="1" marL="914400" rtl="0" algn="l">
              <a:lnSpc>
                <a:spcPct val="150000"/>
              </a:lnSpc>
              <a:spcBef>
                <a:spcPts val="0"/>
              </a:spcBef>
              <a:spcAft>
                <a:spcPts val="0"/>
              </a:spcAft>
              <a:buSzPts val="1400"/>
              <a:buChar char="-"/>
            </a:pPr>
            <a:r>
              <a:rPr lang="ca"/>
              <a:t>Remove “Rock” from deck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ca"/>
              <a:t>Game Architecture with Scriptable Objects</a:t>
            </a:r>
            <a:endParaRPr/>
          </a:p>
          <a:p>
            <a:pPr indent="0" lvl="0" marL="0" rtl="0" algn="l">
              <a:spcBef>
                <a:spcPts val="0"/>
              </a:spcBef>
              <a:spcAft>
                <a:spcPts val="0"/>
              </a:spcAft>
              <a:buNone/>
            </a:pPr>
            <a:r>
              <a:t/>
            </a:r>
            <a:endParaRPr/>
          </a:p>
        </p:txBody>
      </p:sp>
      <p:sp>
        <p:nvSpPr>
          <p:cNvPr id="165" name="Google Shape;165;p27"/>
          <p:cNvSpPr txBox="1"/>
          <p:nvPr>
            <p:ph idx="1" type="body"/>
          </p:nvPr>
        </p:nvSpPr>
        <p:spPr>
          <a:xfrm>
            <a:off x="311700" y="1051475"/>
            <a:ext cx="8133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ca"/>
              <a:t>They can be used as middle-man, to create awesome decoupled code architecture.</a:t>
            </a:r>
            <a:endParaRPr/>
          </a:p>
          <a:p>
            <a:pPr indent="0" lvl="0" marL="0" rtl="0" algn="l">
              <a:spcBef>
                <a:spcPts val="1200"/>
              </a:spcBef>
              <a:spcAft>
                <a:spcPts val="0"/>
              </a:spcAft>
              <a:buNone/>
            </a:pPr>
            <a:r>
              <a:rPr lang="ca"/>
              <a:t>This video is old but gold, is a little advanced and a complete overkill, but is a pure joy to watch:</a:t>
            </a:r>
            <a:endParaRPr/>
          </a:p>
          <a:p>
            <a:pPr indent="0" lvl="0" marL="0" rtl="0" algn="l">
              <a:spcBef>
                <a:spcPts val="1200"/>
              </a:spcBef>
              <a:spcAft>
                <a:spcPts val="1200"/>
              </a:spcAft>
              <a:buNone/>
            </a:pPr>
            <a:r>
              <a:t/>
            </a:r>
            <a:endParaRPr/>
          </a:p>
        </p:txBody>
      </p:sp>
      <p:pic>
        <p:nvPicPr>
          <p:cNvPr descr="Scriptable Objects are an immensely powerful yet often underutilized feature of Unity. Learn how to get the most out of this versatile data structure and build more extensible systems and data patterns. In this talk, Schell Games shares specific examples of how they have used the Scriptable Object for everything from a hierarchical state machine, to an event system, to a method of cross scene communication.  Sample project: https://github.com/roboryantron/Unite2017&#10;&#10;Ryan Hipple (Principal Engineer, Schell Games)&#10;&#10;0:00 Intro&#10;2:38 Engineering Pillers&#10;7:04 ScriptableObjects Basics&#10;15:26 Modular Data&#10;27:50 Event Architecture&#10;38:30 Runtime Sets&#10;45:32 No More Enums&#10;50:33 Asset Base Systems" id="166" name="Google Shape;166;p27" title="Unite Austin 2017 - Game Architecture with Scriptable Objects">
            <a:hlinkClick r:id="rId3"/>
          </p:cNvPr>
          <p:cNvPicPr preferRelativeResize="0"/>
          <p:nvPr/>
        </p:nvPicPr>
        <p:blipFill>
          <a:blip r:embed="rId4">
            <a:alphaModFix/>
          </a:blip>
          <a:stretch>
            <a:fillRect/>
          </a:stretch>
        </p:blipFill>
        <p:spPr>
          <a:xfrm>
            <a:off x="1934675" y="2571750"/>
            <a:ext cx="4632425" cy="2605750"/>
          </a:xfrm>
          <a:prstGeom prst="rect">
            <a:avLst/>
          </a:prstGeom>
          <a:noFill/>
          <a:ln>
            <a:noFill/>
          </a:ln>
        </p:spPr>
      </p:pic>
      <p:sp>
        <p:nvSpPr>
          <p:cNvPr id="167" name="Google Shape;167;p27"/>
          <p:cNvSpPr txBox="1"/>
          <p:nvPr>
            <p:ph idx="1" type="body"/>
          </p:nvPr>
        </p:nvSpPr>
        <p:spPr>
          <a:xfrm>
            <a:off x="1100313" y="2175100"/>
            <a:ext cx="6363300" cy="621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ca" u="sng">
                <a:solidFill>
                  <a:schemeClr val="hlink"/>
                </a:solidFill>
                <a:hlinkClick r:id="rId5"/>
              </a:rPr>
              <a:t>Unite Austin 2017 - Game Architecture with Scriptable Objects</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1000"/>
                                        <p:tgtEl>
                                          <p:spTgt spid="1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