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y="5143500" cx="9144000"/>
  <p:notesSz cx="6858000" cy="9144000"/>
  <p:embeddedFontLst>
    <p:embeddedFont>
      <p:font typeface="Average"/>
      <p:regular r:id="rId32"/>
    </p:embeddedFont>
    <p:embeddedFont>
      <p:font typeface="Oswald"/>
      <p:regular r:id="rId33"/>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04E3B9-ECDF-4372-9B89-7B12F4A5D5C7}">
  <a:tblStyle styleId="{3204E3B9-ECDF-4372-9B89-7B12F4A5D5C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Oswald-regular.fntdata"/><Relationship Id="rId10" Type="http://schemas.openxmlformats.org/officeDocument/2006/relationships/slide" Target="slides/slide3.xml"/><Relationship Id="rId32" Type="http://schemas.openxmlformats.org/officeDocument/2006/relationships/font" Target="fonts/Average-regular.fntdata"/><Relationship Id="rId13" Type="http://schemas.openxmlformats.org/officeDocument/2006/relationships/slide" Target="slides/slide6.xml"/><Relationship Id="rId12" Type="http://schemas.openxmlformats.org/officeDocument/2006/relationships/slide" Target="slides/slide5.xml"/><Relationship Id="rId34" Type="http://schemas.openxmlformats.org/officeDocument/2006/relationships/font" Target="fonts/Oswald-bold.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fff7b80f11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fff7b80f11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fff7b80f11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fff7b80f11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fff7b80f11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fff7b80f11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fff7b80f11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fff7b80f11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fff7b80f11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fff7b80f11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fff7b80f11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fff7b80f11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fff7b80f11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fff7b80f11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fff7b80f11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fff7b80f11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fff7b80f11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fff7b80f11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fff7b80f11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fff7b80f11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068c45fe5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068c45fe5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068c45fe5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068c45fe5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fff7b80f11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fff7b80f11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068c45fe58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068c45fe58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068c45fe58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068c45fe58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068c45fe58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068c45fe58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068c45fe58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068c45fe58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068c45fe58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068c45fe58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fff7b80f11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fff7b80f11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fff7b80f11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fff7b80f11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fff7b80f11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fff7b80f11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fff7b80f11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fff7b80f11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fff7b80f11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fff7b80f11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fff7b80f11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fff7b80f11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grpSp>
        <p:nvGrpSpPr>
          <p:cNvPr id="55" name="Google Shape;55;p14"/>
          <p:cNvGrpSpPr/>
          <p:nvPr/>
        </p:nvGrpSpPr>
        <p:grpSpPr>
          <a:xfrm>
            <a:off x="4350279" y="2855377"/>
            <a:ext cx="443589" cy="105632"/>
            <a:chOff x="4137525" y="2915950"/>
            <a:chExt cx="869100" cy="207000"/>
          </a:xfrm>
        </p:grpSpPr>
        <p:sp>
          <p:nvSpPr>
            <p:cNvPr id="56" name="Google Shape;56;p14"/>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4"/>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14"/>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800"/>
              <a:buNone/>
              <a:defRPr sz="48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
        <p:nvSpPr>
          <p:cNvPr id="60" name="Google Shape;60;p14"/>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1" name="Google Shape;61;p1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2" name="Shape 62"/>
        <p:cNvGrpSpPr/>
        <p:nvPr/>
      </p:nvGrpSpPr>
      <p:grpSpPr>
        <a:xfrm>
          <a:off x="0" y="0"/>
          <a:ext cx="0" cy="0"/>
          <a:chOff x="0" y="0"/>
          <a:chExt cx="0" cy="0"/>
        </a:xfrm>
      </p:grpSpPr>
      <p:sp>
        <p:nvSpPr>
          <p:cNvPr id="63" name="Google Shape;63;p15"/>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4" name="Google Shape;64;p1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7" name="Google Shape;67;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8" name="Google Shape;68;p1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9" name="Shape 69"/>
        <p:cNvGrpSpPr/>
        <p:nvPr/>
      </p:nvGrpSpPr>
      <p:grpSpPr>
        <a:xfrm>
          <a:off x="0" y="0"/>
          <a:ext cx="0" cy="0"/>
          <a:chOff x="0" y="0"/>
          <a:chExt cx="0" cy="0"/>
        </a:xfrm>
      </p:grpSpPr>
      <p:sp>
        <p:nvSpPr>
          <p:cNvPr id="70" name="Google Shape;70;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1" name="Google Shape;71;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2" name="Google Shape;72;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3" name="Google Shape;73;p1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4" name="Shape 74"/>
        <p:cNvGrpSpPr/>
        <p:nvPr/>
      </p:nvGrpSpPr>
      <p:grpSpPr>
        <a:xfrm>
          <a:off x="0" y="0"/>
          <a:ext cx="0" cy="0"/>
          <a:chOff x="0" y="0"/>
          <a:chExt cx="0" cy="0"/>
        </a:xfrm>
      </p:grpSpPr>
      <p:sp>
        <p:nvSpPr>
          <p:cNvPr id="75" name="Google Shape;75;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6" name="Google Shape;76;p1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9" name="Google Shape;79;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80" name="Google Shape;80;p1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81" name="Shape 81"/>
        <p:cNvGrpSpPr/>
        <p:nvPr/>
      </p:nvGrpSpPr>
      <p:grpSpPr>
        <a:xfrm>
          <a:off x="0" y="0"/>
          <a:ext cx="0" cy="0"/>
          <a:chOff x="0" y="0"/>
          <a:chExt cx="0" cy="0"/>
        </a:xfrm>
      </p:grpSpPr>
      <p:sp>
        <p:nvSpPr>
          <p:cNvPr id="82" name="Google Shape;82;p20"/>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83" name="Google Shape;83;p2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4" name="Shape 84"/>
        <p:cNvGrpSpPr/>
        <p:nvPr/>
      </p:nvGrpSpPr>
      <p:grpSpPr>
        <a:xfrm>
          <a:off x="0" y="0"/>
          <a:ext cx="0" cy="0"/>
          <a:chOff x="0" y="0"/>
          <a:chExt cx="0" cy="0"/>
        </a:xfrm>
      </p:grpSpPr>
      <p:sp>
        <p:nvSpPr>
          <p:cNvPr id="85" name="Google Shape;85;p21"/>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 name="Google Shape;86;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87" name="Google Shape;87;p21"/>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8" name="Google Shape;88;p21"/>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chemeClr val="dk1"/>
              </a:buClr>
              <a:buSzPts val="2100"/>
              <a:buNone/>
              <a:defRPr sz="21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89" name="Google Shape;89;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0"/>
              </a:spcBef>
              <a:spcAft>
                <a:spcPts val="0"/>
              </a:spcAft>
              <a:buClr>
                <a:schemeClr val="lt1"/>
              </a:buClr>
              <a:buSzPts val="1400"/>
              <a:buChar char="○"/>
              <a:defRPr>
                <a:solidFill>
                  <a:schemeClr val="lt1"/>
                </a:solidFill>
              </a:defRPr>
            </a:lvl2pPr>
            <a:lvl3pPr indent="-317500" lvl="2" marL="1371600" rtl="0">
              <a:spcBef>
                <a:spcPts val="0"/>
              </a:spcBef>
              <a:spcAft>
                <a:spcPts val="0"/>
              </a:spcAft>
              <a:buClr>
                <a:schemeClr val="lt1"/>
              </a:buClr>
              <a:buSzPts val="1400"/>
              <a:buChar char="■"/>
              <a:defRPr>
                <a:solidFill>
                  <a:schemeClr val="lt1"/>
                </a:solidFill>
              </a:defRPr>
            </a:lvl3pPr>
            <a:lvl4pPr indent="-317500" lvl="3" marL="1828800" rtl="0">
              <a:spcBef>
                <a:spcPts val="0"/>
              </a:spcBef>
              <a:spcAft>
                <a:spcPts val="0"/>
              </a:spcAft>
              <a:buClr>
                <a:schemeClr val="lt1"/>
              </a:buClr>
              <a:buSzPts val="1400"/>
              <a:buChar char="●"/>
              <a:defRPr>
                <a:solidFill>
                  <a:schemeClr val="lt1"/>
                </a:solidFill>
              </a:defRPr>
            </a:lvl4pPr>
            <a:lvl5pPr indent="-317500" lvl="4" marL="2286000" rtl="0">
              <a:spcBef>
                <a:spcPts val="0"/>
              </a:spcBef>
              <a:spcAft>
                <a:spcPts val="0"/>
              </a:spcAft>
              <a:buClr>
                <a:schemeClr val="lt1"/>
              </a:buClr>
              <a:buSzPts val="1400"/>
              <a:buChar char="○"/>
              <a:defRPr>
                <a:solidFill>
                  <a:schemeClr val="lt1"/>
                </a:solidFill>
              </a:defRPr>
            </a:lvl5pPr>
            <a:lvl6pPr indent="-317500" lvl="5" marL="2743200" rtl="0">
              <a:spcBef>
                <a:spcPts val="0"/>
              </a:spcBef>
              <a:spcAft>
                <a:spcPts val="0"/>
              </a:spcAft>
              <a:buClr>
                <a:schemeClr val="lt1"/>
              </a:buClr>
              <a:buSzPts val="1400"/>
              <a:buChar char="■"/>
              <a:defRPr>
                <a:solidFill>
                  <a:schemeClr val="lt1"/>
                </a:solidFill>
              </a:defRPr>
            </a:lvl6pPr>
            <a:lvl7pPr indent="-317500" lvl="6" marL="3200400" rtl="0">
              <a:spcBef>
                <a:spcPts val="0"/>
              </a:spcBef>
              <a:spcAft>
                <a:spcPts val="0"/>
              </a:spcAft>
              <a:buClr>
                <a:schemeClr val="lt1"/>
              </a:buClr>
              <a:buSzPts val="1400"/>
              <a:buChar char="●"/>
              <a:defRPr>
                <a:solidFill>
                  <a:schemeClr val="lt1"/>
                </a:solidFill>
              </a:defRPr>
            </a:lvl7pPr>
            <a:lvl8pPr indent="-317500" lvl="7" marL="3657600" rtl="0">
              <a:spcBef>
                <a:spcPts val="0"/>
              </a:spcBef>
              <a:spcAft>
                <a:spcPts val="0"/>
              </a:spcAft>
              <a:buClr>
                <a:schemeClr val="lt1"/>
              </a:buClr>
              <a:buSzPts val="1400"/>
              <a:buChar char="○"/>
              <a:defRPr>
                <a:solidFill>
                  <a:schemeClr val="lt1"/>
                </a:solidFill>
              </a:defRPr>
            </a:lvl8pPr>
            <a:lvl9pPr indent="-317500" lvl="8" marL="4114800" rtl="0">
              <a:spcBef>
                <a:spcPts val="0"/>
              </a:spcBef>
              <a:spcAft>
                <a:spcPts val="0"/>
              </a:spcAft>
              <a:buClr>
                <a:schemeClr val="lt1"/>
              </a:buClr>
              <a:buSzPts val="1400"/>
              <a:buChar char="■"/>
              <a:defRPr>
                <a:solidFill>
                  <a:schemeClr val="lt1"/>
                </a:solidFill>
              </a:defRPr>
            </a:lvl9pPr>
          </a:lstStyle>
          <a:p/>
        </p:txBody>
      </p:sp>
      <p:sp>
        <p:nvSpPr>
          <p:cNvPr id="90" name="Google Shape;90;p2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1" name="Shape 91"/>
        <p:cNvGrpSpPr/>
        <p:nvPr/>
      </p:nvGrpSpPr>
      <p:grpSpPr>
        <a:xfrm>
          <a:off x="0" y="0"/>
          <a:ext cx="0" cy="0"/>
          <a:chOff x="0" y="0"/>
          <a:chExt cx="0" cy="0"/>
        </a:xfrm>
      </p:grpSpPr>
      <p:sp>
        <p:nvSpPr>
          <p:cNvPr id="92" name="Google Shape;92;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93" name="Google Shape;93;p2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4" name="Shape 94"/>
        <p:cNvGrpSpPr/>
        <p:nvPr/>
      </p:nvGrpSpPr>
      <p:grpSpPr>
        <a:xfrm>
          <a:off x="0" y="0"/>
          <a:ext cx="0" cy="0"/>
          <a:chOff x="0" y="0"/>
          <a:chExt cx="0" cy="0"/>
        </a:xfrm>
      </p:grpSpPr>
      <p:sp>
        <p:nvSpPr>
          <p:cNvPr id="95" name="Google Shape;95;p23"/>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6" name="Google Shape;96;p23"/>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97" name="Google Shape;97;p2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53" name="Google Shape;53;p13"/>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accent3"/>
                </a:solidFill>
                <a:latin typeface="Average"/>
                <a:ea typeface="Average"/>
                <a:cs typeface="Average"/>
                <a:sym typeface="Average"/>
              </a:defRPr>
            </a:lvl1pPr>
            <a:lvl2pPr lvl="1" rtl="0" algn="r">
              <a:buNone/>
              <a:defRPr sz="1000">
                <a:solidFill>
                  <a:schemeClr val="accent3"/>
                </a:solidFill>
                <a:latin typeface="Average"/>
                <a:ea typeface="Average"/>
                <a:cs typeface="Average"/>
                <a:sym typeface="Average"/>
              </a:defRPr>
            </a:lvl2pPr>
            <a:lvl3pPr lvl="2" rtl="0" algn="r">
              <a:buNone/>
              <a:defRPr sz="1000">
                <a:solidFill>
                  <a:schemeClr val="accent3"/>
                </a:solidFill>
                <a:latin typeface="Average"/>
                <a:ea typeface="Average"/>
                <a:cs typeface="Average"/>
                <a:sym typeface="Average"/>
              </a:defRPr>
            </a:lvl3pPr>
            <a:lvl4pPr lvl="3" rtl="0" algn="r">
              <a:buNone/>
              <a:defRPr sz="1000">
                <a:solidFill>
                  <a:schemeClr val="accent3"/>
                </a:solidFill>
                <a:latin typeface="Average"/>
                <a:ea typeface="Average"/>
                <a:cs typeface="Average"/>
                <a:sym typeface="Average"/>
              </a:defRPr>
            </a:lvl4pPr>
            <a:lvl5pPr lvl="4" rtl="0" algn="r">
              <a:buNone/>
              <a:defRPr sz="1000">
                <a:solidFill>
                  <a:schemeClr val="accent3"/>
                </a:solidFill>
                <a:latin typeface="Average"/>
                <a:ea typeface="Average"/>
                <a:cs typeface="Average"/>
                <a:sym typeface="Average"/>
              </a:defRPr>
            </a:lvl5pPr>
            <a:lvl6pPr lvl="5" rtl="0" algn="r">
              <a:buNone/>
              <a:defRPr sz="1000">
                <a:solidFill>
                  <a:schemeClr val="accent3"/>
                </a:solidFill>
                <a:latin typeface="Average"/>
                <a:ea typeface="Average"/>
                <a:cs typeface="Average"/>
                <a:sym typeface="Average"/>
              </a:defRPr>
            </a:lvl6pPr>
            <a:lvl7pPr lvl="6" rtl="0" algn="r">
              <a:buNone/>
              <a:defRPr sz="1000">
                <a:solidFill>
                  <a:schemeClr val="accent3"/>
                </a:solidFill>
                <a:latin typeface="Average"/>
                <a:ea typeface="Average"/>
                <a:cs typeface="Average"/>
                <a:sym typeface="Average"/>
              </a:defRPr>
            </a:lvl7pPr>
            <a:lvl8pPr lvl="7" rtl="0" algn="r">
              <a:buNone/>
              <a:defRPr sz="1000">
                <a:solidFill>
                  <a:schemeClr val="accent3"/>
                </a:solidFill>
                <a:latin typeface="Average"/>
                <a:ea typeface="Average"/>
                <a:cs typeface="Average"/>
                <a:sym typeface="Average"/>
              </a:defRPr>
            </a:lvl8pPr>
            <a:lvl9pPr lvl="8" rtl="0"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5"/>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OOP</a:t>
            </a:r>
            <a:r>
              <a:rPr lang="es"/>
              <a:t> y C#</a:t>
            </a:r>
            <a:endParaRPr/>
          </a:p>
        </p:txBody>
      </p:sp>
      <p:sp>
        <p:nvSpPr>
          <p:cNvPr id="105" name="Google Shape;105;p25"/>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Scripting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Goals</a:t>
            </a:r>
            <a:endParaRPr/>
          </a:p>
        </p:txBody>
      </p:sp>
      <p:sp>
        <p:nvSpPr>
          <p:cNvPr id="111" name="Google Shape;111;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Font typeface="Arial"/>
              <a:buChar char="●"/>
            </a:pPr>
            <a:r>
              <a:rPr lang="es"/>
              <a:t>Understanding the benefits of OOP.</a:t>
            </a:r>
            <a:endParaRPr/>
          </a:p>
          <a:p>
            <a:pPr indent="-298450" lvl="0" marL="457200" rtl="0" algn="l">
              <a:spcBef>
                <a:spcPts val="0"/>
              </a:spcBef>
              <a:spcAft>
                <a:spcPts val="0"/>
              </a:spcAft>
              <a:buClr>
                <a:srgbClr val="000000"/>
              </a:buClr>
              <a:buSzPts val="1100"/>
              <a:buFont typeface="Arial"/>
              <a:buChar char="●"/>
            </a:pPr>
            <a:r>
              <a:rPr lang="es"/>
              <a:t>Diagrams with UML.</a:t>
            </a:r>
            <a:endParaRPr/>
          </a:p>
          <a:p>
            <a:pPr indent="-298450" lvl="0" marL="457200" rtl="0" algn="l">
              <a:spcBef>
                <a:spcPts val="0"/>
              </a:spcBef>
              <a:spcAft>
                <a:spcPts val="0"/>
              </a:spcAft>
              <a:buClr>
                <a:srgbClr val="000000"/>
              </a:buClr>
              <a:buSzPts val="1100"/>
              <a:buFont typeface="Arial"/>
              <a:buChar char="●"/>
            </a:pPr>
            <a:r>
              <a:rPr lang="es"/>
              <a:t>Differences and similarities between</a:t>
            </a:r>
            <a:r>
              <a:rPr lang="es"/>
              <a:t> C++ a C#</a:t>
            </a:r>
            <a:endParaRPr/>
          </a:p>
          <a:p>
            <a:pPr indent="-298450" lvl="0" marL="457200" rtl="0" algn="l">
              <a:spcBef>
                <a:spcPts val="0"/>
              </a:spcBef>
              <a:spcAft>
                <a:spcPts val="0"/>
              </a:spcAft>
              <a:buClr>
                <a:srgbClr val="000000"/>
              </a:buClr>
              <a:buSzPts val="1100"/>
              <a:buFont typeface="Arial"/>
              <a:buChar char="●"/>
            </a:pPr>
            <a:r>
              <a:rPr lang="es"/>
              <a:t>Practical exercises</a:t>
            </a:r>
            <a:r>
              <a:rPr lang="es"/>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Programming paradigms</a:t>
            </a:r>
            <a:endParaRPr/>
          </a:p>
        </p:txBody>
      </p:sp>
      <p:sp>
        <p:nvSpPr>
          <p:cNvPr id="117" name="Google Shape;117;p27"/>
          <p:cNvSpPr txBox="1"/>
          <p:nvPr>
            <p:ph idx="1" type="body"/>
          </p:nvPr>
        </p:nvSpPr>
        <p:spPr>
          <a:xfrm>
            <a:off x="350375" y="1051925"/>
            <a:ext cx="8520600" cy="12468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Font typeface="Arial"/>
              <a:buChar char="●"/>
            </a:pPr>
            <a:r>
              <a:rPr lang="es"/>
              <a:t>Problems often have multiple possible solutions.</a:t>
            </a:r>
            <a:endParaRPr/>
          </a:p>
          <a:p>
            <a:pPr indent="-298450" lvl="0" marL="457200" rtl="0" algn="l">
              <a:spcBef>
                <a:spcPts val="0"/>
              </a:spcBef>
              <a:spcAft>
                <a:spcPts val="0"/>
              </a:spcAft>
              <a:buClr>
                <a:srgbClr val="000000"/>
              </a:buClr>
              <a:buSzPts val="1100"/>
              <a:buFont typeface="Arial"/>
              <a:buChar char="●"/>
            </a:pPr>
            <a:r>
              <a:rPr lang="es"/>
              <a:t>Paradigms are approaches to how these problems are understood and solved.</a:t>
            </a:r>
            <a:endParaRPr/>
          </a:p>
          <a:p>
            <a:pPr indent="-298450" lvl="0" marL="457200" rtl="0" algn="l">
              <a:spcBef>
                <a:spcPts val="0"/>
              </a:spcBef>
              <a:spcAft>
                <a:spcPts val="0"/>
              </a:spcAft>
              <a:buClr>
                <a:srgbClr val="000000"/>
              </a:buClr>
              <a:buSzPts val="1100"/>
              <a:buFont typeface="Arial"/>
              <a:buChar char="●"/>
            </a:pPr>
            <a:r>
              <a:rPr lang="es"/>
              <a:t>Some languages ​​support multiple programming paradigms.</a:t>
            </a:r>
            <a:endParaRPr/>
          </a:p>
        </p:txBody>
      </p:sp>
      <p:graphicFrame>
        <p:nvGraphicFramePr>
          <p:cNvPr id="118" name="Google Shape;118;p27"/>
          <p:cNvGraphicFramePr/>
          <p:nvPr/>
        </p:nvGraphicFramePr>
        <p:xfrm>
          <a:off x="952500" y="2460050"/>
          <a:ext cx="3000000" cy="3000000"/>
        </p:xfrm>
        <a:graphic>
          <a:graphicData uri="http://schemas.openxmlformats.org/drawingml/2006/table">
            <a:tbl>
              <a:tblPr>
                <a:noFill/>
                <a:tableStyleId>{3204E3B9-ECDF-4372-9B89-7B12F4A5D5C7}</a:tableStyleId>
              </a:tblPr>
              <a:tblGrid>
                <a:gridCol w="3619500"/>
                <a:gridCol w="3619500"/>
              </a:tblGrid>
              <a:tr h="381000">
                <a:tc>
                  <a:txBody>
                    <a:bodyPr/>
                    <a:lstStyle/>
                    <a:p>
                      <a:pPr indent="0" lvl="0" marL="0" rtl="0" algn="ctr">
                        <a:spcBef>
                          <a:spcPts val="0"/>
                        </a:spcBef>
                        <a:spcAft>
                          <a:spcPts val="0"/>
                        </a:spcAft>
                        <a:buNone/>
                      </a:pPr>
                      <a:r>
                        <a:rPr b="1" lang="es">
                          <a:solidFill>
                            <a:schemeClr val="dk1"/>
                          </a:solidFill>
                        </a:rPr>
                        <a:t>Paradigm</a:t>
                      </a:r>
                      <a:endParaRPr b="1">
                        <a:solidFill>
                          <a:schemeClr val="dk1"/>
                        </a:solidFill>
                      </a:endParaRPr>
                    </a:p>
                  </a:txBody>
                  <a:tcPr marT="91425" marB="91425" marR="91425" marL="91425"/>
                </a:tc>
                <a:tc>
                  <a:txBody>
                    <a:bodyPr/>
                    <a:lstStyle/>
                    <a:p>
                      <a:pPr indent="0" lvl="0" marL="0" rtl="0" algn="ctr">
                        <a:spcBef>
                          <a:spcPts val="0"/>
                        </a:spcBef>
                        <a:spcAft>
                          <a:spcPts val="0"/>
                        </a:spcAft>
                        <a:buNone/>
                      </a:pPr>
                      <a:r>
                        <a:rPr b="1" lang="es">
                          <a:solidFill>
                            <a:schemeClr val="dk1"/>
                          </a:solidFill>
                        </a:rPr>
                        <a:t>Programming </a:t>
                      </a:r>
                      <a:r>
                        <a:rPr b="1" lang="es">
                          <a:solidFill>
                            <a:schemeClr val="dk1"/>
                          </a:solidFill>
                        </a:rPr>
                        <a:t>languages support</a:t>
                      </a:r>
                      <a:endParaRPr b="1">
                        <a:solidFill>
                          <a:schemeClr val="dk1"/>
                        </a:solidFill>
                      </a:endParaRPr>
                    </a:p>
                  </a:txBody>
                  <a:tcPr marT="91425" marB="91425" marR="91425" marL="91425"/>
                </a:tc>
              </a:tr>
              <a:tr h="381000">
                <a:tc>
                  <a:txBody>
                    <a:bodyPr/>
                    <a:lstStyle/>
                    <a:p>
                      <a:pPr indent="0" lvl="0" marL="0" rtl="0" algn="ctr">
                        <a:spcBef>
                          <a:spcPts val="0"/>
                        </a:spcBef>
                        <a:spcAft>
                          <a:spcPts val="0"/>
                        </a:spcAft>
                        <a:buNone/>
                      </a:pPr>
                      <a:r>
                        <a:rPr lang="es">
                          <a:solidFill>
                            <a:schemeClr val="dk1"/>
                          </a:solidFill>
                        </a:rPr>
                        <a:t>Imperative</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s">
                          <a:solidFill>
                            <a:schemeClr val="dk1"/>
                          </a:solidFill>
                        </a:rPr>
                        <a:t>C, C++, Python, JavaScript</a:t>
                      </a:r>
                      <a:endParaRPr>
                        <a:solidFill>
                          <a:schemeClr val="dk1"/>
                        </a:solidFill>
                      </a:endParaRPr>
                    </a:p>
                  </a:txBody>
                  <a:tcPr marT="91425" marB="91425" marR="91425" marL="91425"/>
                </a:tc>
              </a:tr>
              <a:tr h="381000">
                <a:tc>
                  <a:txBody>
                    <a:bodyPr/>
                    <a:lstStyle/>
                    <a:p>
                      <a:pPr indent="0" lvl="0" marL="0" rtl="0" algn="ctr">
                        <a:spcBef>
                          <a:spcPts val="0"/>
                        </a:spcBef>
                        <a:spcAft>
                          <a:spcPts val="0"/>
                        </a:spcAft>
                        <a:buNone/>
                      </a:pPr>
                      <a:r>
                        <a:rPr lang="es">
                          <a:solidFill>
                            <a:schemeClr val="dk1"/>
                          </a:solidFill>
                        </a:rPr>
                        <a:t>Functional</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s">
                          <a:solidFill>
                            <a:schemeClr val="dk1"/>
                          </a:solidFill>
                        </a:rPr>
                        <a:t>Haskell, Scala, Elixir, Lisp, C# (con LINQ)</a:t>
                      </a:r>
                      <a:endParaRPr>
                        <a:solidFill>
                          <a:schemeClr val="dk1"/>
                        </a:solidFill>
                      </a:endParaRPr>
                    </a:p>
                  </a:txBody>
                  <a:tcPr marT="91425" marB="91425" marR="91425" marL="91425"/>
                </a:tc>
              </a:tr>
              <a:tr h="381000">
                <a:tc>
                  <a:txBody>
                    <a:bodyPr/>
                    <a:lstStyle/>
                    <a:p>
                      <a:pPr indent="0" lvl="0" marL="0" rtl="0" algn="ctr">
                        <a:spcBef>
                          <a:spcPts val="0"/>
                        </a:spcBef>
                        <a:spcAft>
                          <a:spcPts val="0"/>
                        </a:spcAft>
                        <a:buNone/>
                      </a:pPr>
                      <a:r>
                        <a:rPr lang="es">
                          <a:solidFill>
                            <a:schemeClr val="dk1"/>
                          </a:solidFill>
                        </a:rPr>
                        <a:t>Object Oriented Programming (OOP)</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s">
                          <a:solidFill>
                            <a:schemeClr val="dk1"/>
                          </a:solidFill>
                        </a:rPr>
                        <a:t>C++, C#, Java, Python, </a:t>
                      </a:r>
                      <a:endParaRPr>
                        <a:solidFill>
                          <a:schemeClr val="dk1"/>
                        </a:solidFill>
                      </a:endParaRPr>
                    </a:p>
                  </a:txBody>
                  <a:tcPr marT="91425" marB="91425" marR="91425" marL="91425"/>
                </a:tc>
              </a:tr>
              <a:tr h="381000">
                <a:tc>
                  <a:txBody>
                    <a:bodyPr/>
                    <a:lstStyle/>
                    <a:p>
                      <a:pPr indent="0" lvl="0" marL="0" rtl="0" algn="ctr">
                        <a:spcBef>
                          <a:spcPts val="0"/>
                        </a:spcBef>
                        <a:spcAft>
                          <a:spcPts val="0"/>
                        </a:spcAft>
                        <a:buNone/>
                      </a:pPr>
                      <a:r>
                        <a:rPr lang="es">
                          <a:solidFill>
                            <a:schemeClr val="dk1"/>
                          </a:solidFill>
                        </a:rPr>
                        <a:t>Component Oriented Programming (COP)</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s">
                          <a:solidFill>
                            <a:schemeClr val="dk1"/>
                          </a:solidFill>
                        </a:rPr>
                        <a:t>Unity (C#), React (JavaScript).</a:t>
                      </a:r>
                      <a:endParaRPr>
                        <a:solidFill>
                          <a:schemeClr val="dk1"/>
                        </a:solidFill>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Object Oriented Programming (OOP)</a:t>
            </a:r>
            <a:endParaRPr sz="1400">
              <a:latin typeface="Arial"/>
              <a:ea typeface="Arial"/>
              <a:cs typeface="Arial"/>
              <a:sym typeface="Arial"/>
            </a:endParaRPr>
          </a:p>
          <a:p>
            <a:pPr indent="0" lvl="0" marL="0" rtl="0" algn="l">
              <a:spcBef>
                <a:spcPts val="0"/>
              </a:spcBef>
              <a:spcAft>
                <a:spcPts val="0"/>
              </a:spcAft>
              <a:buNone/>
            </a:pPr>
            <a:r>
              <a:t/>
            </a:r>
            <a:endParaRPr/>
          </a:p>
        </p:txBody>
      </p:sp>
      <p:sp>
        <p:nvSpPr>
          <p:cNvPr id="124" name="Google Shape;124;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298450" lvl="0" marL="457200" rtl="0" algn="l">
              <a:spcBef>
                <a:spcPts val="0"/>
              </a:spcBef>
              <a:spcAft>
                <a:spcPts val="0"/>
              </a:spcAft>
              <a:buClr>
                <a:srgbClr val="000000"/>
              </a:buClr>
              <a:buSzPts val="1100"/>
              <a:buFont typeface="Arial"/>
              <a:buChar char="●"/>
            </a:pPr>
            <a:r>
              <a:rPr lang="es"/>
              <a:t>OOP uses the concept of "objects" as a foundation, which contain information in attributes, and code in the form of methods.</a:t>
            </a:r>
            <a:endParaRPr/>
          </a:p>
          <a:p>
            <a:pPr indent="-298450" lvl="0" marL="457200" rtl="0" algn="l">
              <a:spcBef>
                <a:spcPts val="1000"/>
              </a:spcBef>
              <a:spcAft>
                <a:spcPts val="0"/>
              </a:spcAft>
              <a:buClr>
                <a:srgbClr val="000000"/>
              </a:buClr>
              <a:buSzPts val="1100"/>
              <a:buFont typeface="Arial"/>
              <a:buChar char="●"/>
            </a:pPr>
            <a:r>
              <a:rPr lang="es"/>
              <a:t>This encapsulation ensures that the only way an object can access data is through the methods of the object that contains the data.</a:t>
            </a:r>
            <a:endParaRPr/>
          </a:p>
          <a:p>
            <a:pPr indent="-298450" lvl="0" marL="457200" rtl="0" algn="l">
              <a:spcBef>
                <a:spcPts val="1000"/>
              </a:spcBef>
              <a:spcAft>
                <a:spcPts val="0"/>
              </a:spcAft>
              <a:buClr>
                <a:srgbClr val="000000"/>
              </a:buClr>
              <a:buSzPts val="1100"/>
              <a:buFont typeface="Arial"/>
              <a:buChar char="●"/>
            </a:pPr>
            <a:r>
              <a:rPr lang="es"/>
              <a:t>The internal workings of an object can be modified without affecting the code that uses the object.</a:t>
            </a:r>
            <a:endParaRPr/>
          </a:p>
          <a:p>
            <a:pPr indent="-298450" lvl="0" marL="457200" rtl="0" algn="l">
              <a:spcBef>
                <a:spcPts val="1000"/>
              </a:spcBef>
              <a:spcAft>
                <a:spcPts val="0"/>
              </a:spcAft>
              <a:buClr>
                <a:srgbClr val="000000"/>
              </a:buClr>
              <a:buSzPts val="1100"/>
              <a:buFont typeface="Arial"/>
              <a:buChar char="●"/>
            </a:pPr>
            <a:r>
              <a:rPr lang="es"/>
              <a:t>C++ and C# are OOP.</a:t>
            </a:r>
            <a:endParaRPr/>
          </a:p>
          <a:p>
            <a:pPr indent="0" lvl="0" marL="0" rtl="0" algn="l">
              <a:spcBef>
                <a:spcPts val="10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Key </a:t>
            </a:r>
            <a:r>
              <a:rPr lang="es"/>
              <a:t>Concepts about </a:t>
            </a:r>
            <a:r>
              <a:rPr lang="es"/>
              <a:t>OOP</a:t>
            </a:r>
            <a:endParaRPr/>
          </a:p>
        </p:txBody>
      </p:sp>
      <p:sp>
        <p:nvSpPr>
          <p:cNvPr id="130" name="Google Shape;130;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298450" lvl="0" marL="457200" rtl="0" algn="l">
              <a:spcBef>
                <a:spcPts val="1200"/>
              </a:spcBef>
              <a:spcAft>
                <a:spcPts val="0"/>
              </a:spcAft>
              <a:buClr>
                <a:srgbClr val="000000"/>
              </a:buClr>
              <a:buSzPts val="1100"/>
              <a:buFont typeface="Arial"/>
              <a:buChar char="●"/>
            </a:pPr>
            <a:r>
              <a:rPr lang="es" sz="1900"/>
              <a:t>Class</a:t>
            </a:r>
            <a:r>
              <a:rPr lang="es"/>
              <a:t>:</a:t>
            </a:r>
            <a:endParaRPr/>
          </a:p>
          <a:p>
            <a:pPr indent="-298450" lvl="1" marL="914400" rtl="0" algn="l">
              <a:spcBef>
                <a:spcPts val="1000"/>
              </a:spcBef>
              <a:spcAft>
                <a:spcPts val="0"/>
              </a:spcAft>
              <a:buClr>
                <a:srgbClr val="000000"/>
              </a:buClr>
              <a:buSzPts val="1100"/>
              <a:buFont typeface="Arial"/>
              <a:buChar char="○"/>
            </a:pPr>
            <a:r>
              <a:rPr lang="es"/>
              <a:t>A class is a template from which objects are created.</a:t>
            </a:r>
            <a:endParaRPr/>
          </a:p>
          <a:p>
            <a:pPr indent="-298450" lvl="1" marL="914400" rtl="0" algn="l">
              <a:spcBef>
                <a:spcPts val="1000"/>
              </a:spcBef>
              <a:spcAft>
                <a:spcPts val="0"/>
              </a:spcAft>
              <a:buClr>
                <a:srgbClr val="000000"/>
              </a:buClr>
              <a:buSzPts val="1100"/>
              <a:buFont typeface="Arial"/>
              <a:buChar char="○"/>
            </a:pPr>
            <a:r>
              <a:rPr lang="es"/>
              <a:t>It defines the properties and behaviors that objects will have.</a:t>
            </a:r>
            <a:endParaRPr/>
          </a:p>
          <a:p>
            <a:pPr indent="-298450" lvl="1" marL="914400" rtl="0" algn="l">
              <a:spcBef>
                <a:spcPts val="1000"/>
              </a:spcBef>
              <a:spcAft>
                <a:spcPts val="0"/>
              </a:spcAft>
              <a:buClr>
                <a:srgbClr val="000000"/>
              </a:buClr>
              <a:buSzPts val="1100"/>
              <a:buFont typeface="Arial"/>
              <a:buChar char="○"/>
            </a:pPr>
            <a:r>
              <a:rPr lang="es"/>
              <a:t>Classes do not take up memory space by themselves, they simply define the structure of future objects.</a:t>
            </a:r>
            <a:endParaRPr/>
          </a:p>
          <a:p>
            <a:pPr indent="-298450" lvl="0" marL="457200" rtl="0" algn="l">
              <a:spcBef>
                <a:spcPts val="1000"/>
              </a:spcBef>
              <a:spcAft>
                <a:spcPts val="0"/>
              </a:spcAft>
              <a:buClr>
                <a:srgbClr val="000000"/>
              </a:buClr>
              <a:buSzPts val="1100"/>
              <a:buFont typeface="Arial"/>
              <a:buChar char="●"/>
            </a:pPr>
            <a:r>
              <a:rPr lang="es" sz="1900"/>
              <a:t>Objects</a:t>
            </a:r>
            <a:r>
              <a:rPr lang="es"/>
              <a:t>:</a:t>
            </a:r>
            <a:endParaRPr/>
          </a:p>
          <a:p>
            <a:pPr indent="-298450" lvl="1" marL="914400" rtl="0" algn="l">
              <a:spcBef>
                <a:spcPts val="1000"/>
              </a:spcBef>
              <a:spcAft>
                <a:spcPts val="0"/>
              </a:spcAft>
              <a:buClr>
                <a:srgbClr val="000000"/>
              </a:buClr>
              <a:buSzPts val="1100"/>
              <a:buFont typeface="Arial"/>
              <a:buChar char="○"/>
            </a:pPr>
            <a:r>
              <a:rPr lang="es"/>
              <a:t>An object is a concrete instance of a class.</a:t>
            </a:r>
            <a:endParaRPr/>
          </a:p>
          <a:p>
            <a:pPr indent="-298450" lvl="1" marL="914400" rtl="0" algn="l">
              <a:spcBef>
                <a:spcPts val="1000"/>
              </a:spcBef>
              <a:spcAft>
                <a:spcPts val="0"/>
              </a:spcAft>
              <a:buClr>
                <a:srgbClr val="000000"/>
              </a:buClr>
              <a:buSzPts val="1100"/>
              <a:buFont typeface="Arial"/>
              <a:buChar char="○"/>
            </a:pPr>
            <a:r>
              <a:rPr lang="es"/>
              <a:t>Objects take shape at runtime when they are instantiated, taking up space in memory.</a:t>
            </a:r>
            <a:endParaRPr/>
          </a:p>
          <a:p>
            <a:pPr indent="-298450" lvl="1" marL="914400" rtl="0" algn="l">
              <a:spcBef>
                <a:spcPts val="1200"/>
              </a:spcBef>
              <a:spcAft>
                <a:spcPts val="1000"/>
              </a:spcAft>
              <a:buClr>
                <a:srgbClr val="000000"/>
              </a:buClr>
              <a:buSzPts val="1100"/>
              <a:buFont typeface="Arial"/>
              <a:buChar char="○"/>
            </a:pPr>
            <a:r>
              <a:rPr lang="es"/>
              <a:t>Each object can have different values ​​for its attributes.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Key Concepts about OOP</a:t>
            </a:r>
            <a:endParaRPr/>
          </a:p>
          <a:p>
            <a:pPr indent="0" lvl="0" marL="0" rtl="0" algn="l">
              <a:spcBef>
                <a:spcPts val="0"/>
              </a:spcBef>
              <a:spcAft>
                <a:spcPts val="0"/>
              </a:spcAft>
              <a:buNone/>
            </a:pPr>
            <a:r>
              <a:t/>
            </a:r>
            <a:endParaRPr/>
          </a:p>
        </p:txBody>
      </p:sp>
      <p:sp>
        <p:nvSpPr>
          <p:cNvPr id="136" name="Google Shape;136;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287972" lvl="0" marL="457200" rtl="0" algn="l">
              <a:spcBef>
                <a:spcPts val="1200"/>
              </a:spcBef>
              <a:spcAft>
                <a:spcPts val="0"/>
              </a:spcAft>
              <a:buClr>
                <a:srgbClr val="000000"/>
              </a:buClr>
              <a:buSzPct val="51092"/>
              <a:buFont typeface="Arial"/>
              <a:buChar char="●"/>
            </a:pPr>
            <a:r>
              <a:rPr lang="es" sz="2152"/>
              <a:t>Attributes</a:t>
            </a:r>
            <a:r>
              <a:rPr lang="es"/>
              <a:t>:</a:t>
            </a:r>
            <a:endParaRPr/>
          </a:p>
          <a:p>
            <a:pPr indent="-287972" lvl="1" marL="914400" rtl="0" algn="l">
              <a:spcBef>
                <a:spcPts val="1000"/>
              </a:spcBef>
              <a:spcAft>
                <a:spcPts val="0"/>
              </a:spcAft>
              <a:buClr>
                <a:srgbClr val="000000"/>
              </a:buClr>
              <a:buSzPct val="78571"/>
              <a:buFont typeface="Arial"/>
              <a:buChar char="○"/>
            </a:pPr>
            <a:r>
              <a:rPr lang="es"/>
              <a:t>These are the properties or characteristics that define the state of an object. In a class, attributes are variables that store values. For example, in the Car class, an attribute could be color, brand, or speed. Attributes can be public, private, or protected depending on the visibility you want to give.</a:t>
            </a:r>
            <a:endParaRPr/>
          </a:p>
          <a:p>
            <a:pPr indent="-287972" lvl="0" marL="457200" rtl="0" algn="l">
              <a:spcBef>
                <a:spcPts val="1000"/>
              </a:spcBef>
              <a:spcAft>
                <a:spcPts val="0"/>
              </a:spcAft>
              <a:buClr>
                <a:srgbClr val="000000"/>
              </a:buClr>
              <a:buSzPct val="51092"/>
              <a:buFont typeface="Arial"/>
              <a:buChar char="●"/>
            </a:pPr>
            <a:r>
              <a:rPr lang="es" sz="2152"/>
              <a:t>Methods</a:t>
            </a:r>
            <a:r>
              <a:rPr lang="es"/>
              <a:t>:</a:t>
            </a:r>
            <a:endParaRPr/>
          </a:p>
          <a:p>
            <a:pPr indent="-287972" lvl="1" marL="914400" rtl="0" algn="l">
              <a:spcBef>
                <a:spcPts val="1000"/>
              </a:spcBef>
              <a:spcAft>
                <a:spcPts val="0"/>
              </a:spcAft>
              <a:buClr>
                <a:srgbClr val="000000"/>
              </a:buClr>
              <a:buSzPct val="78571"/>
              <a:buFont typeface="Arial"/>
              <a:buChar char="○"/>
            </a:pPr>
            <a:r>
              <a:rPr lang="es"/>
              <a:t>Methods are the functions or actions that an object of the class can perform. In OOP terms, methods define the behavior of objects. For example, in the Car class, a method could be start() or brake(). Methods allow you to modify the attributes of the object or interact with other objects. They can also be public, private, or protected, depending on the access you want to provide.</a:t>
            </a:r>
            <a:endParaRPr/>
          </a:p>
          <a:p>
            <a:pPr indent="-307022" lvl="0" marL="457200" rtl="0" algn="l">
              <a:spcBef>
                <a:spcPts val="1000"/>
              </a:spcBef>
              <a:spcAft>
                <a:spcPts val="0"/>
              </a:spcAft>
              <a:buClr>
                <a:srgbClr val="000000"/>
              </a:buClr>
              <a:buSzPct val="67486"/>
              <a:buFont typeface="Arial"/>
              <a:buChar char="●"/>
            </a:pPr>
            <a:r>
              <a:rPr lang="es" sz="2152"/>
              <a:t>Encapsulation: </a:t>
            </a:r>
            <a:endParaRPr sz="2152"/>
          </a:p>
          <a:p>
            <a:pPr indent="-287972" lvl="1" marL="914400" rtl="0" algn="l">
              <a:spcBef>
                <a:spcPts val="1200"/>
              </a:spcBef>
              <a:spcAft>
                <a:spcPts val="1000"/>
              </a:spcAft>
              <a:buClr>
                <a:srgbClr val="000000"/>
              </a:buClr>
              <a:buSzPct val="78571"/>
              <a:buFont typeface="Arial"/>
              <a:buChar char="○"/>
            </a:pPr>
            <a:r>
              <a:rPr lang="es"/>
              <a:t>This is the process by which the internal details of an object's operation are hidden and only the necessary parts are exposed through a public interface. This allows other parts of the system to interact with the object without knowing or depending on its internal implementation, thus reducing the coupling between different software components.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Key Concepts about OOP</a:t>
            </a:r>
            <a:endParaRPr/>
          </a:p>
        </p:txBody>
      </p:sp>
      <p:sp>
        <p:nvSpPr>
          <p:cNvPr id="142" name="Google Shape;142;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Font typeface="Arial"/>
              <a:buChar char="●"/>
            </a:pPr>
            <a:r>
              <a:rPr lang="es"/>
              <a:t>Inheritance.</a:t>
            </a:r>
            <a:endParaRPr/>
          </a:p>
          <a:p>
            <a:pPr indent="-298450" lvl="1" marL="914400" rtl="0" algn="l">
              <a:spcBef>
                <a:spcPts val="1000"/>
              </a:spcBef>
              <a:spcAft>
                <a:spcPts val="0"/>
              </a:spcAft>
              <a:buClr>
                <a:srgbClr val="000000"/>
              </a:buClr>
              <a:buSzPts val="1100"/>
              <a:buFont typeface="Arial"/>
              <a:buChar char="○"/>
            </a:pPr>
            <a:r>
              <a:rPr lang="es"/>
              <a:t>Mechanism that allows a class (subclass or derived class) to inherit attributes and methods from another class (superclass or base class). This encourages code reuse and the creation of hierarchies. For example, a Vehicle class can be the basis for classes such as Car and Truck.</a:t>
            </a:r>
            <a:endParaRPr/>
          </a:p>
          <a:p>
            <a:pPr indent="-298450" lvl="0" marL="457200" rtl="0" algn="l">
              <a:spcBef>
                <a:spcPts val="1000"/>
              </a:spcBef>
              <a:spcAft>
                <a:spcPts val="0"/>
              </a:spcAft>
              <a:buClr>
                <a:srgbClr val="000000"/>
              </a:buClr>
              <a:buSzPts val="1100"/>
              <a:buFont typeface="Arial"/>
              <a:buChar char="●"/>
            </a:pPr>
            <a:r>
              <a:rPr lang="es"/>
              <a:t>Polymorphism.</a:t>
            </a:r>
            <a:endParaRPr/>
          </a:p>
          <a:p>
            <a:pPr indent="-298450" lvl="1" marL="914400" rtl="0" algn="l">
              <a:spcBef>
                <a:spcPts val="1200"/>
              </a:spcBef>
              <a:spcAft>
                <a:spcPts val="1000"/>
              </a:spcAft>
              <a:buClr>
                <a:srgbClr val="000000"/>
              </a:buClr>
              <a:buSzPts val="1100"/>
              <a:buFont typeface="Arial"/>
              <a:buChar char="○"/>
            </a:pPr>
            <a:r>
              <a:rPr lang="es"/>
              <a:t>The ability for different objects to be treated as instances of the same class through a common interface. Allows a method to behave differently depending on the object that invokes it. For example, a MakeSound method could produce different sounds depending on whether it is a dog or a cat.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a:t>
            </a:r>
            <a:r>
              <a:rPr lang="es"/>
              <a:t>OP Advantages</a:t>
            </a:r>
            <a:endParaRPr/>
          </a:p>
        </p:txBody>
      </p:sp>
      <p:sp>
        <p:nvSpPr>
          <p:cNvPr id="148" name="Google Shape;148;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Font typeface="Arial"/>
              <a:buChar char="●"/>
            </a:pPr>
            <a:r>
              <a:rPr b="1" lang="es"/>
              <a:t>Abstraction</a:t>
            </a:r>
            <a:r>
              <a:rPr lang="es"/>
              <a:t>: Proximity of modeled concepts to real-world objects.</a:t>
            </a:r>
            <a:endParaRPr/>
          </a:p>
          <a:p>
            <a:pPr indent="-298450" lvl="0" marL="457200" rtl="0" algn="l">
              <a:spcBef>
                <a:spcPts val="1000"/>
              </a:spcBef>
              <a:spcAft>
                <a:spcPts val="0"/>
              </a:spcAft>
              <a:buClr>
                <a:srgbClr val="000000"/>
              </a:buClr>
              <a:buSzPts val="1100"/>
              <a:buFont typeface="Arial"/>
              <a:buChar char="●"/>
            </a:pPr>
            <a:r>
              <a:rPr b="1" lang="es"/>
              <a:t>Separating behavior from implementation</a:t>
            </a:r>
            <a:r>
              <a:rPr lang="es"/>
              <a:t>. The what and the how.</a:t>
            </a:r>
            <a:endParaRPr/>
          </a:p>
          <a:p>
            <a:pPr indent="-298450" lvl="0" marL="457200" rtl="0" algn="l">
              <a:spcBef>
                <a:spcPts val="1000"/>
              </a:spcBef>
              <a:spcAft>
                <a:spcPts val="0"/>
              </a:spcAft>
              <a:buClr>
                <a:srgbClr val="000000"/>
              </a:buClr>
              <a:buSzPts val="1100"/>
              <a:buFont typeface="Arial"/>
              <a:buChar char="●"/>
            </a:pPr>
            <a:r>
              <a:rPr b="1" lang="es"/>
              <a:t>Encapsulation</a:t>
            </a:r>
            <a:r>
              <a:rPr lang="es"/>
              <a:t>.</a:t>
            </a:r>
            <a:endParaRPr/>
          </a:p>
          <a:p>
            <a:pPr indent="-298450" lvl="0" marL="457200" rtl="0" algn="l">
              <a:spcBef>
                <a:spcPts val="1000"/>
              </a:spcBef>
              <a:spcAft>
                <a:spcPts val="0"/>
              </a:spcAft>
              <a:buClr>
                <a:srgbClr val="000000"/>
              </a:buClr>
              <a:buSzPts val="1100"/>
              <a:buFont typeface="Arial"/>
              <a:buChar char="●"/>
            </a:pPr>
            <a:r>
              <a:rPr lang="es"/>
              <a:t>Facilitates </a:t>
            </a:r>
            <a:r>
              <a:rPr b="1" lang="es"/>
              <a:t>code reuse</a:t>
            </a:r>
            <a:r>
              <a:rPr lang="es"/>
              <a:t>. Thanks to inheritance and classes.</a:t>
            </a:r>
            <a:endParaRPr/>
          </a:p>
          <a:p>
            <a:pPr indent="-298450" lvl="0" marL="457200" rtl="0" algn="l">
              <a:spcBef>
                <a:spcPts val="1000"/>
              </a:spcBef>
              <a:spcAft>
                <a:spcPts val="0"/>
              </a:spcAft>
              <a:buClr>
                <a:srgbClr val="000000"/>
              </a:buClr>
              <a:buSzPts val="1100"/>
              <a:buFont typeface="Arial"/>
              <a:buChar char="●"/>
            </a:pPr>
            <a:r>
              <a:rPr b="1" lang="es"/>
              <a:t>Maintainability</a:t>
            </a:r>
            <a:r>
              <a:rPr lang="es"/>
              <a:t>: Changes in a class are automatically reflected in the objects that use it.</a:t>
            </a:r>
            <a:endParaRPr/>
          </a:p>
          <a:p>
            <a:pPr indent="-298450" lvl="0" marL="457200" rtl="0" algn="l">
              <a:spcBef>
                <a:spcPts val="1200"/>
              </a:spcBef>
              <a:spcAft>
                <a:spcPts val="1000"/>
              </a:spcAft>
              <a:buClr>
                <a:srgbClr val="000000"/>
              </a:buClr>
              <a:buSzPts val="1100"/>
              <a:buFont typeface="Arial"/>
              <a:buChar char="●"/>
            </a:pPr>
            <a:r>
              <a:rPr b="1" lang="es"/>
              <a:t>Modularity</a:t>
            </a:r>
            <a:r>
              <a:rPr lang="es"/>
              <a:t>: Separation of concerns allows code to be divided into more manageable parts.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OOP Disadvantages</a:t>
            </a:r>
            <a:endParaRPr/>
          </a:p>
        </p:txBody>
      </p:sp>
      <p:sp>
        <p:nvSpPr>
          <p:cNvPr id="154" name="Google Shape;154;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Font typeface="Arial"/>
              <a:buChar char="●"/>
            </a:pPr>
            <a:r>
              <a:rPr b="1" lang="es"/>
              <a:t>Non-linear data flow</a:t>
            </a:r>
            <a:r>
              <a:rPr lang="es"/>
              <a:t> and execution may make it harder to follow.</a:t>
            </a:r>
            <a:endParaRPr/>
          </a:p>
          <a:p>
            <a:pPr indent="0" lvl="0" marL="457200" rtl="0" algn="l">
              <a:spcBef>
                <a:spcPts val="1200"/>
              </a:spcBef>
              <a:spcAft>
                <a:spcPts val="0"/>
              </a:spcAft>
              <a:buNone/>
            </a:pPr>
            <a:r>
              <a:t/>
            </a:r>
            <a:endParaRPr/>
          </a:p>
          <a:p>
            <a:pPr indent="-298450" lvl="0" marL="457200" rtl="0" algn="l">
              <a:spcBef>
                <a:spcPts val="1200"/>
              </a:spcBef>
              <a:spcAft>
                <a:spcPts val="0"/>
              </a:spcAft>
              <a:buClr>
                <a:srgbClr val="000000"/>
              </a:buClr>
              <a:buSzPts val="1100"/>
              <a:buFont typeface="Arial"/>
              <a:buChar char="●"/>
            </a:pPr>
            <a:r>
              <a:rPr lang="es"/>
              <a:t>Performance </a:t>
            </a:r>
            <a:r>
              <a:rPr b="1" lang="es"/>
              <a:t>overhead</a:t>
            </a:r>
            <a:r>
              <a:rPr lang="es"/>
              <a:t>: Creating objects and using methods may be less efficient in terms of pure performance than procedural programming.</a:t>
            </a:r>
            <a:endParaRPr/>
          </a:p>
          <a:p>
            <a:pPr indent="0" lvl="0" marL="45720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UML Diagram (Unified Modeling Language)</a:t>
            </a:r>
            <a:endParaRPr/>
          </a:p>
        </p:txBody>
      </p:sp>
      <p:pic>
        <p:nvPicPr>
          <p:cNvPr id="160" name="Google Shape;160;p34"/>
          <p:cNvPicPr preferRelativeResize="0"/>
          <p:nvPr/>
        </p:nvPicPr>
        <p:blipFill>
          <a:blip r:embed="rId3">
            <a:alphaModFix/>
          </a:blip>
          <a:stretch>
            <a:fillRect/>
          </a:stretch>
        </p:blipFill>
        <p:spPr>
          <a:xfrm>
            <a:off x="2023575" y="1054850"/>
            <a:ext cx="4135716" cy="38209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UML Diagram (Unified Modeling Language)</a:t>
            </a:r>
            <a:endParaRPr/>
          </a:p>
          <a:p>
            <a:pPr indent="0" lvl="0" marL="0" rtl="0" algn="l">
              <a:spcBef>
                <a:spcPts val="0"/>
              </a:spcBef>
              <a:spcAft>
                <a:spcPts val="0"/>
              </a:spcAft>
              <a:buNone/>
            </a:pPr>
            <a:r>
              <a:t/>
            </a:r>
            <a:endParaRPr/>
          </a:p>
        </p:txBody>
      </p:sp>
      <p:pic>
        <p:nvPicPr>
          <p:cNvPr id="166" name="Google Shape;166;p35"/>
          <p:cNvPicPr preferRelativeResize="0"/>
          <p:nvPr/>
        </p:nvPicPr>
        <p:blipFill>
          <a:blip r:embed="rId3">
            <a:alphaModFix/>
          </a:blip>
          <a:stretch>
            <a:fillRect/>
          </a:stretch>
        </p:blipFill>
        <p:spPr>
          <a:xfrm>
            <a:off x="2059050" y="1108025"/>
            <a:ext cx="4499580" cy="3820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UML Diagram - Node</a:t>
            </a:r>
            <a:endParaRPr/>
          </a:p>
        </p:txBody>
      </p:sp>
      <p:sp>
        <p:nvSpPr>
          <p:cNvPr id="172" name="Google Shape;172;p36"/>
          <p:cNvSpPr txBox="1"/>
          <p:nvPr>
            <p:ph idx="1" type="body"/>
          </p:nvPr>
        </p:nvSpPr>
        <p:spPr>
          <a:xfrm>
            <a:off x="4530850" y="1311075"/>
            <a:ext cx="5280600" cy="167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700"/>
              <a:t>Object Name</a:t>
            </a:r>
            <a:r>
              <a:rPr lang="es" sz="1700"/>
              <a:t>.</a:t>
            </a:r>
            <a:endParaRPr sz="1700"/>
          </a:p>
          <a:p>
            <a:pPr indent="0" lvl="0" marL="0" rtl="0" algn="l">
              <a:spcBef>
                <a:spcPts val="1200"/>
              </a:spcBef>
              <a:spcAft>
                <a:spcPts val="0"/>
              </a:spcAft>
              <a:buNone/>
            </a:pPr>
            <a:r>
              <a:rPr lang="es" sz="1700"/>
              <a:t>Attributes list.</a:t>
            </a:r>
            <a:endParaRPr sz="1700"/>
          </a:p>
          <a:p>
            <a:pPr indent="0" lvl="0" marL="0" rtl="0" algn="l">
              <a:spcBef>
                <a:spcPts val="1200"/>
              </a:spcBef>
              <a:spcAft>
                <a:spcPts val="1200"/>
              </a:spcAft>
              <a:buNone/>
            </a:pPr>
            <a:r>
              <a:rPr lang="es" sz="1700"/>
              <a:t>Methods list.</a:t>
            </a:r>
            <a:endParaRPr sz="1700"/>
          </a:p>
        </p:txBody>
      </p:sp>
      <p:pic>
        <p:nvPicPr>
          <p:cNvPr id="173" name="Google Shape;173;p36"/>
          <p:cNvPicPr preferRelativeResize="0"/>
          <p:nvPr/>
        </p:nvPicPr>
        <p:blipFill>
          <a:blip r:embed="rId3">
            <a:alphaModFix/>
          </a:blip>
          <a:stretch>
            <a:fillRect/>
          </a:stretch>
        </p:blipFill>
        <p:spPr>
          <a:xfrm>
            <a:off x="1847825" y="1296250"/>
            <a:ext cx="2077000" cy="1411375"/>
          </a:xfrm>
          <a:prstGeom prst="rect">
            <a:avLst/>
          </a:prstGeom>
          <a:noFill/>
          <a:ln>
            <a:noFill/>
          </a:ln>
        </p:spPr>
      </p:pic>
      <p:sp>
        <p:nvSpPr>
          <p:cNvPr id="174" name="Google Shape;174;p36"/>
          <p:cNvSpPr txBox="1"/>
          <p:nvPr>
            <p:ph idx="1" type="body"/>
          </p:nvPr>
        </p:nvSpPr>
        <p:spPr>
          <a:xfrm>
            <a:off x="1847825" y="2889888"/>
            <a:ext cx="1252800" cy="4782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1200"/>
              </a:spcAft>
              <a:buNone/>
            </a:pPr>
            <a:r>
              <a:rPr lang="es"/>
              <a:t>Privacy level</a:t>
            </a:r>
            <a:endParaRPr/>
          </a:p>
        </p:txBody>
      </p:sp>
      <p:graphicFrame>
        <p:nvGraphicFramePr>
          <p:cNvPr id="175" name="Google Shape;175;p36"/>
          <p:cNvGraphicFramePr/>
          <p:nvPr/>
        </p:nvGraphicFramePr>
        <p:xfrm>
          <a:off x="1956025" y="3368100"/>
          <a:ext cx="3000000" cy="3000000"/>
        </p:xfrm>
        <a:graphic>
          <a:graphicData uri="http://schemas.openxmlformats.org/drawingml/2006/table">
            <a:tbl>
              <a:tblPr>
                <a:noFill/>
                <a:tableStyleId>{3204E3B9-ECDF-4372-9B89-7B12F4A5D5C7}</a:tableStyleId>
              </a:tblPr>
              <a:tblGrid>
                <a:gridCol w="392425"/>
                <a:gridCol w="2923175"/>
              </a:tblGrid>
              <a:tr h="272525">
                <a:tc>
                  <a:txBody>
                    <a:bodyPr/>
                    <a:lstStyle/>
                    <a:p>
                      <a:pPr indent="0" lvl="0" marL="0" rtl="0" algn="l">
                        <a:spcBef>
                          <a:spcPts val="0"/>
                        </a:spcBef>
                        <a:spcAft>
                          <a:spcPts val="0"/>
                        </a:spcAft>
                        <a:buNone/>
                      </a:pPr>
                      <a:r>
                        <a:rPr lang="es" sz="800">
                          <a:solidFill>
                            <a:schemeClr val="dk1"/>
                          </a:solidFill>
                        </a:rPr>
                        <a:t>+</a:t>
                      </a:r>
                      <a:endParaRPr sz="800">
                        <a:solidFill>
                          <a:schemeClr val="dk1"/>
                        </a:solidFill>
                      </a:endParaRPr>
                    </a:p>
                  </a:txBody>
                  <a:tcPr marT="91425" marB="91425" marR="91425" marL="91425"/>
                </a:tc>
                <a:tc>
                  <a:txBody>
                    <a:bodyPr/>
                    <a:lstStyle/>
                    <a:p>
                      <a:pPr indent="0" lvl="0" marL="0" rtl="0" algn="l">
                        <a:spcBef>
                          <a:spcPts val="0"/>
                        </a:spcBef>
                        <a:spcAft>
                          <a:spcPts val="0"/>
                        </a:spcAft>
                        <a:buNone/>
                      </a:pPr>
                      <a:r>
                        <a:rPr lang="es" sz="800">
                          <a:solidFill>
                            <a:schemeClr val="dk1"/>
                          </a:solidFill>
                        </a:rPr>
                        <a:t>Public</a:t>
                      </a:r>
                      <a:endParaRPr sz="800">
                        <a:solidFill>
                          <a:schemeClr val="dk1"/>
                        </a:solidFill>
                      </a:endParaRPr>
                    </a:p>
                  </a:txBody>
                  <a:tcPr marT="91425" marB="91425" marR="91425" marL="91425"/>
                </a:tc>
              </a:tr>
              <a:tr h="248075">
                <a:tc>
                  <a:txBody>
                    <a:bodyPr/>
                    <a:lstStyle/>
                    <a:p>
                      <a:pPr indent="0" lvl="0" marL="0" rtl="0" algn="l">
                        <a:spcBef>
                          <a:spcPts val="0"/>
                        </a:spcBef>
                        <a:spcAft>
                          <a:spcPts val="0"/>
                        </a:spcAft>
                        <a:buNone/>
                      </a:pPr>
                      <a:r>
                        <a:rPr lang="es" sz="800">
                          <a:solidFill>
                            <a:schemeClr val="dk1"/>
                          </a:solidFill>
                        </a:rPr>
                        <a:t>-</a:t>
                      </a:r>
                      <a:endParaRPr sz="800">
                        <a:solidFill>
                          <a:schemeClr val="dk1"/>
                        </a:solidFill>
                      </a:endParaRPr>
                    </a:p>
                  </a:txBody>
                  <a:tcPr marT="91425" marB="91425" marR="91425" marL="91425"/>
                </a:tc>
                <a:tc>
                  <a:txBody>
                    <a:bodyPr/>
                    <a:lstStyle/>
                    <a:p>
                      <a:pPr indent="0" lvl="0" marL="0" rtl="0" algn="l">
                        <a:spcBef>
                          <a:spcPts val="0"/>
                        </a:spcBef>
                        <a:spcAft>
                          <a:spcPts val="0"/>
                        </a:spcAft>
                        <a:buNone/>
                      </a:pPr>
                      <a:r>
                        <a:rPr lang="es" sz="800">
                          <a:solidFill>
                            <a:schemeClr val="dk1"/>
                          </a:solidFill>
                        </a:rPr>
                        <a:t>Private</a:t>
                      </a:r>
                      <a:endParaRPr sz="800">
                        <a:solidFill>
                          <a:schemeClr val="dk1"/>
                        </a:solidFill>
                      </a:endParaRPr>
                    </a:p>
                  </a:txBody>
                  <a:tcPr marT="91425" marB="91425" marR="91425" marL="91425"/>
                </a:tc>
              </a:tr>
              <a:tr h="248075">
                <a:tc>
                  <a:txBody>
                    <a:bodyPr/>
                    <a:lstStyle/>
                    <a:p>
                      <a:pPr indent="0" lvl="0" marL="0" rtl="0" algn="l">
                        <a:spcBef>
                          <a:spcPts val="0"/>
                        </a:spcBef>
                        <a:spcAft>
                          <a:spcPts val="0"/>
                        </a:spcAft>
                        <a:buNone/>
                      </a:pPr>
                      <a:r>
                        <a:rPr lang="es" sz="800">
                          <a:solidFill>
                            <a:schemeClr val="dk1"/>
                          </a:solidFill>
                        </a:rPr>
                        <a:t>#</a:t>
                      </a:r>
                      <a:endParaRPr sz="800">
                        <a:solidFill>
                          <a:schemeClr val="dk1"/>
                        </a:solidFill>
                      </a:endParaRPr>
                    </a:p>
                  </a:txBody>
                  <a:tcPr marT="91425" marB="91425" marR="91425" marL="91425"/>
                </a:tc>
                <a:tc>
                  <a:txBody>
                    <a:bodyPr/>
                    <a:lstStyle/>
                    <a:p>
                      <a:pPr indent="0" lvl="0" marL="0" rtl="0" algn="l">
                        <a:spcBef>
                          <a:spcPts val="0"/>
                        </a:spcBef>
                        <a:spcAft>
                          <a:spcPts val="0"/>
                        </a:spcAft>
                        <a:buNone/>
                      </a:pPr>
                      <a:r>
                        <a:rPr lang="es" sz="800">
                          <a:solidFill>
                            <a:schemeClr val="dk1"/>
                          </a:solidFill>
                        </a:rPr>
                        <a:t>Protected</a:t>
                      </a:r>
                      <a:endParaRPr sz="800">
                        <a:solidFill>
                          <a:schemeClr val="dk1"/>
                        </a:solidFill>
                      </a:endParaRPr>
                    </a:p>
                  </a:txBody>
                  <a:tcPr marT="91425" marB="91425" marR="91425" marL="91425"/>
                </a:tc>
              </a:tr>
              <a:tr h="248075">
                <a:tc>
                  <a:txBody>
                    <a:bodyPr/>
                    <a:lstStyle/>
                    <a:p>
                      <a:pPr indent="0" lvl="0" marL="0" rtl="0" algn="l">
                        <a:spcBef>
                          <a:spcPts val="0"/>
                        </a:spcBef>
                        <a:spcAft>
                          <a:spcPts val="0"/>
                        </a:spcAft>
                        <a:buNone/>
                      </a:pPr>
                      <a:r>
                        <a:rPr lang="es" sz="800">
                          <a:solidFill>
                            <a:schemeClr val="dk1"/>
                          </a:solidFill>
                        </a:rPr>
                        <a:t>/</a:t>
                      </a:r>
                      <a:endParaRPr sz="800">
                        <a:solidFill>
                          <a:schemeClr val="dk1"/>
                        </a:solidFill>
                      </a:endParaRPr>
                    </a:p>
                  </a:txBody>
                  <a:tcPr marT="91425" marB="91425" marR="91425" marL="91425"/>
                </a:tc>
                <a:tc>
                  <a:txBody>
                    <a:bodyPr/>
                    <a:lstStyle/>
                    <a:p>
                      <a:pPr indent="0" lvl="0" marL="0" rtl="0" algn="l">
                        <a:spcBef>
                          <a:spcPts val="0"/>
                        </a:spcBef>
                        <a:spcAft>
                          <a:spcPts val="0"/>
                        </a:spcAft>
                        <a:buNone/>
                      </a:pPr>
                      <a:r>
                        <a:rPr lang="es" sz="800">
                          <a:solidFill>
                            <a:schemeClr val="dk1"/>
                          </a:solidFill>
                        </a:rPr>
                        <a:t>Derived</a:t>
                      </a:r>
                      <a:endParaRPr sz="800">
                        <a:solidFill>
                          <a:schemeClr val="dk1"/>
                        </a:solidFill>
                      </a:endParaRPr>
                    </a:p>
                  </a:txBody>
                  <a:tcPr marT="91425" marB="91425" marR="91425" marL="91425"/>
                </a:tc>
              </a:tr>
              <a:tr h="248075">
                <a:tc>
                  <a:txBody>
                    <a:bodyPr/>
                    <a:lstStyle/>
                    <a:p>
                      <a:pPr indent="0" lvl="0" marL="0" rtl="0" algn="l">
                        <a:spcBef>
                          <a:spcPts val="0"/>
                        </a:spcBef>
                        <a:spcAft>
                          <a:spcPts val="0"/>
                        </a:spcAft>
                        <a:buNone/>
                      </a:pPr>
                      <a:r>
                        <a:rPr lang="es" sz="800">
                          <a:solidFill>
                            <a:schemeClr val="dk1"/>
                          </a:solidFill>
                        </a:rPr>
                        <a:t>~</a:t>
                      </a:r>
                      <a:endParaRPr sz="800">
                        <a:solidFill>
                          <a:schemeClr val="dk1"/>
                        </a:solidFill>
                      </a:endParaRPr>
                    </a:p>
                  </a:txBody>
                  <a:tcPr marT="91425" marB="91425" marR="91425" marL="91425"/>
                </a:tc>
                <a:tc>
                  <a:txBody>
                    <a:bodyPr/>
                    <a:lstStyle/>
                    <a:p>
                      <a:pPr indent="0" lvl="0" marL="0" rtl="0" algn="l">
                        <a:spcBef>
                          <a:spcPts val="0"/>
                        </a:spcBef>
                        <a:spcAft>
                          <a:spcPts val="0"/>
                        </a:spcAft>
                        <a:buNone/>
                      </a:pPr>
                      <a:r>
                        <a:rPr lang="es" sz="800">
                          <a:solidFill>
                            <a:schemeClr val="dk1"/>
                          </a:solidFill>
                        </a:rPr>
                        <a:t>Package</a:t>
                      </a:r>
                      <a:endParaRPr sz="800">
                        <a:solidFill>
                          <a:schemeClr val="dk1"/>
                        </a:solidFill>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7"/>
          <p:cNvSpPr/>
          <p:nvPr/>
        </p:nvSpPr>
        <p:spPr>
          <a:xfrm>
            <a:off x="1597150" y="1145825"/>
            <a:ext cx="5693400" cy="382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81" name="Google Shape;181;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UML Diagram - Relations</a:t>
            </a:r>
            <a:endParaRPr/>
          </a:p>
          <a:p>
            <a:pPr indent="0" lvl="0" marL="0" rtl="0" algn="l">
              <a:spcBef>
                <a:spcPts val="0"/>
              </a:spcBef>
              <a:spcAft>
                <a:spcPts val="0"/>
              </a:spcAft>
              <a:buNone/>
            </a:pPr>
            <a:r>
              <a:t/>
            </a:r>
            <a:endParaRPr/>
          </a:p>
        </p:txBody>
      </p:sp>
      <p:pic>
        <p:nvPicPr>
          <p:cNvPr id="182" name="Google Shape;182;p37"/>
          <p:cNvPicPr preferRelativeResize="0"/>
          <p:nvPr/>
        </p:nvPicPr>
        <p:blipFill>
          <a:blip r:embed="rId3">
            <a:alphaModFix/>
          </a:blip>
          <a:stretch>
            <a:fillRect/>
          </a:stretch>
        </p:blipFill>
        <p:spPr>
          <a:xfrm>
            <a:off x="1500350" y="1179000"/>
            <a:ext cx="5733702" cy="38209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UML Diagram - Relations</a:t>
            </a:r>
            <a:endParaRPr/>
          </a:p>
          <a:p>
            <a:pPr indent="0" lvl="0" marL="0" rtl="0" algn="l">
              <a:spcBef>
                <a:spcPts val="0"/>
              </a:spcBef>
              <a:spcAft>
                <a:spcPts val="0"/>
              </a:spcAft>
              <a:buNone/>
            </a:pPr>
            <a:r>
              <a:t/>
            </a:r>
            <a:endParaRPr/>
          </a:p>
        </p:txBody>
      </p:sp>
      <p:pic>
        <p:nvPicPr>
          <p:cNvPr id="188" name="Google Shape;188;p38"/>
          <p:cNvPicPr preferRelativeResize="0"/>
          <p:nvPr/>
        </p:nvPicPr>
        <p:blipFill>
          <a:blip r:embed="rId3">
            <a:alphaModFix/>
          </a:blip>
          <a:stretch>
            <a:fillRect/>
          </a:stretch>
        </p:blipFill>
        <p:spPr>
          <a:xfrm>
            <a:off x="1829809" y="1177350"/>
            <a:ext cx="5484375" cy="3647000"/>
          </a:xfrm>
          <a:prstGeom prst="rect">
            <a:avLst/>
          </a:prstGeom>
          <a:noFill/>
          <a:ln>
            <a:noFill/>
          </a:ln>
        </p:spPr>
      </p:pic>
      <p:cxnSp>
        <p:nvCxnSpPr>
          <p:cNvPr id="189" name="Google Shape;189;p38"/>
          <p:cNvCxnSpPr/>
          <p:nvPr/>
        </p:nvCxnSpPr>
        <p:spPr>
          <a:xfrm rot="10800000">
            <a:off x="3373750" y="1731525"/>
            <a:ext cx="59100" cy="52800"/>
          </a:xfrm>
          <a:prstGeom prst="straightConnector1">
            <a:avLst/>
          </a:prstGeom>
          <a:noFill/>
          <a:ln cap="flat" cmpd="sng" w="9525">
            <a:solidFill>
              <a:srgbClr val="000000"/>
            </a:solidFill>
            <a:prstDash val="solid"/>
            <a:round/>
            <a:headEnd len="med" w="med" type="none"/>
            <a:tailEnd len="med" w="med" type="none"/>
          </a:ln>
        </p:spPr>
      </p:cxnSp>
      <p:cxnSp>
        <p:nvCxnSpPr>
          <p:cNvPr id="190" name="Google Shape;190;p38"/>
          <p:cNvCxnSpPr/>
          <p:nvPr/>
        </p:nvCxnSpPr>
        <p:spPr>
          <a:xfrm flipH="1" rot="10800000">
            <a:off x="3368275" y="1784275"/>
            <a:ext cx="64500" cy="24000"/>
          </a:xfrm>
          <a:prstGeom prst="straightConnector1">
            <a:avLst/>
          </a:prstGeom>
          <a:noFill/>
          <a:ln cap="flat" cmpd="sng" w="9525">
            <a:solidFill>
              <a:srgbClr val="000000"/>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UML Diagram - Relations: Association</a:t>
            </a:r>
            <a:endParaRPr/>
          </a:p>
          <a:p>
            <a:pPr indent="0" lvl="0" marL="0" rtl="0" algn="l">
              <a:spcBef>
                <a:spcPts val="0"/>
              </a:spcBef>
              <a:spcAft>
                <a:spcPts val="0"/>
              </a:spcAft>
              <a:buNone/>
            </a:pPr>
            <a:r>
              <a:t/>
            </a:r>
            <a:endParaRPr/>
          </a:p>
        </p:txBody>
      </p:sp>
      <p:sp>
        <p:nvSpPr>
          <p:cNvPr id="196" name="Google Shape;196;p39"/>
          <p:cNvSpPr txBox="1"/>
          <p:nvPr>
            <p:ph idx="1" type="body"/>
          </p:nvPr>
        </p:nvSpPr>
        <p:spPr>
          <a:xfrm>
            <a:off x="437775" y="1412550"/>
            <a:ext cx="7741200" cy="3473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Association</a:t>
            </a:r>
            <a:r>
              <a:rPr lang="es" sz="1700"/>
              <a:t>:</a:t>
            </a:r>
            <a:br>
              <a:rPr lang="es" sz="1700"/>
            </a:br>
            <a:r>
              <a:rPr lang="es" sz="1700"/>
              <a:t>- </a:t>
            </a:r>
            <a:r>
              <a:rPr lang="es" sz="1700"/>
              <a:t>Covers virtually any logical connection or relationship between classes.</a:t>
            </a:r>
            <a:endParaRPr sz="1700"/>
          </a:p>
        </p:txBody>
      </p:sp>
      <p:pic>
        <p:nvPicPr>
          <p:cNvPr id="197" name="Google Shape;197;p39"/>
          <p:cNvPicPr preferRelativeResize="0"/>
          <p:nvPr/>
        </p:nvPicPr>
        <p:blipFill>
          <a:blip r:embed="rId3">
            <a:alphaModFix/>
          </a:blip>
          <a:stretch>
            <a:fillRect/>
          </a:stretch>
        </p:blipFill>
        <p:spPr>
          <a:xfrm>
            <a:off x="2692900" y="2980313"/>
            <a:ext cx="3562350" cy="981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UML Diagram - Relations: Inheritance</a:t>
            </a:r>
            <a:endParaRPr/>
          </a:p>
          <a:p>
            <a:pPr indent="0" lvl="0" marL="0" rtl="0" algn="l">
              <a:spcBef>
                <a:spcPts val="0"/>
              </a:spcBef>
              <a:spcAft>
                <a:spcPts val="0"/>
              </a:spcAft>
              <a:buNone/>
            </a:pPr>
            <a:r>
              <a:t/>
            </a:r>
            <a:endParaRPr/>
          </a:p>
        </p:txBody>
      </p:sp>
      <p:sp>
        <p:nvSpPr>
          <p:cNvPr id="203" name="Google Shape;203;p40"/>
          <p:cNvSpPr txBox="1"/>
          <p:nvPr>
            <p:ph idx="1" type="body"/>
          </p:nvPr>
        </p:nvSpPr>
        <p:spPr>
          <a:xfrm>
            <a:off x="437775" y="1412550"/>
            <a:ext cx="7741200" cy="3473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Inheritance</a:t>
            </a:r>
            <a:r>
              <a:rPr lang="es" sz="1700"/>
              <a:t>:</a:t>
            </a:r>
            <a:br>
              <a:rPr lang="es" sz="1700"/>
            </a:br>
            <a:r>
              <a:rPr lang="es" sz="1700"/>
              <a:t>- "Is a" hierarchical relationship between a superclass and subclass.</a:t>
            </a:r>
            <a:endParaRPr sz="1700"/>
          </a:p>
        </p:txBody>
      </p:sp>
      <p:pic>
        <p:nvPicPr>
          <p:cNvPr id="204" name="Google Shape;204;p40"/>
          <p:cNvPicPr preferRelativeResize="0"/>
          <p:nvPr/>
        </p:nvPicPr>
        <p:blipFill>
          <a:blip r:embed="rId3">
            <a:alphaModFix/>
          </a:blip>
          <a:stretch>
            <a:fillRect/>
          </a:stretch>
        </p:blipFill>
        <p:spPr>
          <a:xfrm>
            <a:off x="2711950" y="2498100"/>
            <a:ext cx="3524250" cy="2209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UML Diagram - Relations: Aggregation</a:t>
            </a:r>
            <a:endParaRPr/>
          </a:p>
          <a:p>
            <a:pPr indent="0" lvl="0" marL="0" rtl="0" algn="l">
              <a:spcBef>
                <a:spcPts val="0"/>
              </a:spcBef>
              <a:spcAft>
                <a:spcPts val="0"/>
              </a:spcAft>
              <a:buNone/>
            </a:pPr>
            <a:r>
              <a:t/>
            </a:r>
            <a:endParaRPr/>
          </a:p>
        </p:txBody>
      </p:sp>
      <p:sp>
        <p:nvSpPr>
          <p:cNvPr id="210" name="Google Shape;210;p41"/>
          <p:cNvSpPr txBox="1"/>
          <p:nvPr>
            <p:ph idx="1" type="body"/>
          </p:nvPr>
        </p:nvSpPr>
        <p:spPr>
          <a:xfrm>
            <a:off x="437775" y="1412550"/>
            <a:ext cx="7741200" cy="864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Aggregation</a:t>
            </a:r>
            <a:r>
              <a:rPr lang="es" sz="1700"/>
              <a:t>:</a:t>
            </a:r>
            <a:br>
              <a:rPr lang="es" sz="1700"/>
            </a:br>
            <a:r>
              <a:rPr lang="es" sz="1700"/>
              <a:t>- It is a stronger "whole-part" relationship but still not completely dependent.</a:t>
            </a:r>
            <a:endParaRPr sz="1700"/>
          </a:p>
        </p:txBody>
      </p:sp>
      <p:pic>
        <p:nvPicPr>
          <p:cNvPr id="211" name="Google Shape;211;p41"/>
          <p:cNvPicPr preferRelativeResize="0"/>
          <p:nvPr/>
        </p:nvPicPr>
        <p:blipFill>
          <a:blip r:embed="rId3">
            <a:alphaModFix/>
          </a:blip>
          <a:stretch>
            <a:fillRect/>
          </a:stretch>
        </p:blipFill>
        <p:spPr>
          <a:xfrm>
            <a:off x="2805113" y="2660175"/>
            <a:ext cx="3533775" cy="942975"/>
          </a:xfrm>
          <a:prstGeom prst="rect">
            <a:avLst/>
          </a:prstGeom>
          <a:noFill/>
          <a:ln>
            <a:noFill/>
          </a:ln>
        </p:spPr>
      </p:pic>
      <p:sp>
        <p:nvSpPr>
          <p:cNvPr id="212" name="Google Shape;212;p41"/>
          <p:cNvSpPr/>
          <p:nvPr/>
        </p:nvSpPr>
        <p:spPr>
          <a:xfrm>
            <a:off x="437775" y="3985900"/>
            <a:ext cx="7741200" cy="1005300"/>
          </a:xfrm>
          <a:prstGeom prst="roundRect">
            <a:avLst>
              <a:gd fmla="val 16667" name="adj"/>
            </a:avLst>
          </a:prstGeom>
          <a:solidFill>
            <a:srgbClr val="FFFF0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lang="es" sz="1200">
                <a:solidFill>
                  <a:schemeClr val="lt1"/>
                </a:solidFill>
                <a:latin typeface="Average"/>
                <a:ea typeface="Average"/>
                <a:cs typeface="Average"/>
                <a:sym typeface="Average"/>
              </a:rPr>
              <a:t>In an Association, the Teacher and Students are simply connected in their day-to-day interaction, but they could cut off that relationship without consequences.</a:t>
            </a:r>
            <a:endParaRPr sz="1200">
              <a:solidFill>
                <a:schemeClr val="lt1"/>
              </a:solidFill>
              <a:latin typeface="Average"/>
              <a:ea typeface="Average"/>
              <a:cs typeface="Average"/>
              <a:sym typeface="Average"/>
            </a:endParaRPr>
          </a:p>
          <a:p>
            <a:pPr indent="0" lvl="0" marL="0" rtl="0" algn="just">
              <a:lnSpc>
                <a:spcPct val="115000"/>
              </a:lnSpc>
              <a:spcBef>
                <a:spcPts val="1200"/>
              </a:spcBef>
              <a:spcAft>
                <a:spcPts val="1200"/>
              </a:spcAft>
              <a:buNone/>
            </a:pPr>
            <a:r>
              <a:rPr lang="es" sz="1200">
                <a:solidFill>
                  <a:schemeClr val="lt1"/>
                </a:solidFill>
                <a:latin typeface="Average"/>
                <a:ea typeface="Average"/>
                <a:cs typeface="Average"/>
                <a:sym typeface="Average"/>
              </a:rPr>
              <a:t>In an Aggregation, although the Wheels can exist without the Car, the Car needs them to be functional.</a:t>
            </a:r>
            <a:endParaRPr sz="1200">
              <a:solidFill>
                <a:schemeClr val="lt1"/>
              </a:solidFill>
              <a:latin typeface="Average"/>
              <a:ea typeface="Average"/>
              <a:cs typeface="Average"/>
              <a:sym typeface="Averag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UML Diagram - Relations: Composition</a:t>
            </a:r>
            <a:endParaRPr/>
          </a:p>
          <a:p>
            <a:pPr indent="0" lvl="0" marL="0" rtl="0" algn="l">
              <a:spcBef>
                <a:spcPts val="0"/>
              </a:spcBef>
              <a:spcAft>
                <a:spcPts val="0"/>
              </a:spcAft>
              <a:buNone/>
            </a:pPr>
            <a:r>
              <a:t/>
            </a:r>
            <a:endParaRPr/>
          </a:p>
        </p:txBody>
      </p:sp>
      <p:sp>
        <p:nvSpPr>
          <p:cNvPr id="218" name="Google Shape;218;p42"/>
          <p:cNvSpPr txBox="1"/>
          <p:nvPr>
            <p:ph idx="1" type="body"/>
          </p:nvPr>
        </p:nvSpPr>
        <p:spPr>
          <a:xfrm>
            <a:off x="437775" y="1412550"/>
            <a:ext cx="7741200" cy="864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Composition</a:t>
            </a:r>
            <a:r>
              <a:rPr lang="es" sz="1700"/>
              <a:t>:</a:t>
            </a:r>
            <a:br>
              <a:rPr lang="es" sz="1700"/>
            </a:br>
            <a:r>
              <a:rPr lang="es" sz="1700"/>
              <a:t>- </a:t>
            </a:r>
            <a:r>
              <a:rPr lang="es" sz="1700"/>
              <a:t>"Has a" (strong) relationship. One object depends on the other to exist.</a:t>
            </a:r>
            <a:endParaRPr sz="1700"/>
          </a:p>
        </p:txBody>
      </p:sp>
      <p:pic>
        <p:nvPicPr>
          <p:cNvPr id="219" name="Google Shape;219;p42"/>
          <p:cNvPicPr preferRelativeResize="0"/>
          <p:nvPr/>
        </p:nvPicPr>
        <p:blipFill>
          <a:blip r:embed="rId3">
            <a:alphaModFix/>
          </a:blip>
          <a:stretch>
            <a:fillRect/>
          </a:stretch>
        </p:blipFill>
        <p:spPr>
          <a:xfrm>
            <a:off x="2589113" y="2616775"/>
            <a:ext cx="3438525" cy="1047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a:t>
            </a:r>
            <a:endParaRPr/>
          </a:p>
        </p:txBody>
      </p:sp>
      <p:sp>
        <p:nvSpPr>
          <p:cNvPr id="225" name="Google Shape;225;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 is a high-level, general-purpose programming language developed by Microsoft in 2000 as part of its .NET platform. It is a multi-paradigm language, meaning it supports several programming styles, including object-oriented, functional, and component-oriented. It was designed to be modern, simple, and flexible, with features such as automatic garbage collection, strong typing, and support for the Common Language Infrastructure (CLI), making it easy to port.</a:t>
            </a:r>
            <a:br>
              <a:rPr lang="es"/>
            </a:br>
            <a:br>
              <a:rPr lang="es"/>
            </a:br>
            <a:endParaRPr/>
          </a:p>
          <a:p>
            <a:pPr indent="0" lvl="0" marL="0" rtl="0" algn="l">
              <a:spcBef>
                <a:spcPts val="1200"/>
              </a:spcBef>
              <a:spcAft>
                <a:spcPts val="1200"/>
              </a:spcAft>
              <a:buNone/>
            </a:pPr>
            <a:r>
              <a:rPr lang="es"/>
              <a:t>https://learn.microsoft.com/en-us/dotnet/csharp/</a:t>
            </a:r>
            <a:endParaRPr/>
          </a:p>
        </p:txBody>
      </p:sp>
      <p:pic>
        <p:nvPicPr>
          <p:cNvPr id="226" name="Google Shape;226;p43"/>
          <p:cNvPicPr preferRelativeResize="0"/>
          <p:nvPr/>
        </p:nvPicPr>
        <p:blipFill>
          <a:blip r:embed="rId3">
            <a:alphaModFix/>
          </a:blip>
          <a:stretch>
            <a:fillRect/>
          </a:stretch>
        </p:blipFill>
        <p:spPr>
          <a:xfrm rot="135224">
            <a:off x="6382000" y="2791425"/>
            <a:ext cx="2019300" cy="22669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 vs C++ : </a:t>
            </a:r>
            <a:r>
              <a:rPr lang="es"/>
              <a:t>Similarities</a:t>
            </a:r>
            <a:endParaRPr/>
          </a:p>
        </p:txBody>
      </p:sp>
      <p:sp>
        <p:nvSpPr>
          <p:cNvPr id="232" name="Google Shape;232;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Font typeface="Arial"/>
              <a:buChar char="●"/>
            </a:pPr>
            <a:r>
              <a:rPr lang="es"/>
              <a:t>The syntax and structuring of C# is very similar to that of C++ to facilitate migration between codes</a:t>
            </a:r>
            <a:endParaRPr/>
          </a:p>
          <a:p>
            <a:pPr indent="-298450" lvl="0" marL="457200" rtl="0" algn="l">
              <a:spcBef>
                <a:spcPts val="1000"/>
              </a:spcBef>
              <a:spcAft>
                <a:spcPts val="0"/>
              </a:spcAft>
              <a:buClr>
                <a:srgbClr val="000000"/>
              </a:buClr>
              <a:buSzPts val="1100"/>
              <a:buFont typeface="Arial"/>
              <a:buChar char="●"/>
            </a:pPr>
            <a:r>
              <a:rPr lang="es"/>
              <a:t>OOP</a:t>
            </a:r>
            <a:endParaRPr/>
          </a:p>
          <a:p>
            <a:pPr indent="-298450" lvl="0" marL="457200" rtl="0" algn="l">
              <a:spcBef>
                <a:spcPts val="1000"/>
              </a:spcBef>
              <a:spcAft>
                <a:spcPts val="0"/>
              </a:spcAft>
              <a:buClr>
                <a:srgbClr val="000000"/>
              </a:buClr>
              <a:buSzPts val="1100"/>
              <a:buFont typeface="Arial"/>
              <a:buChar char="●"/>
            </a:pPr>
            <a:r>
              <a:rPr lang="es"/>
              <a:t>C++ and C# are strongly typed languages</a:t>
            </a:r>
            <a:endParaRPr/>
          </a:p>
          <a:p>
            <a:pPr indent="-298450" lvl="0" marL="457200" rtl="0" algn="l">
              <a:spcBef>
                <a:spcPts val="1200"/>
              </a:spcBef>
              <a:spcAft>
                <a:spcPts val="1000"/>
              </a:spcAft>
              <a:buClr>
                <a:srgbClr val="000000"/>
              </a:buClr>
              <a:buSzPts val="1100"/>
              <a:buFont typeface="Arial"/>
              <a:buChar char="●"/>
            </a:pPr>
            <a:r>
              <a:rPr lang="es"/>
              <a:t>Members of a class are private by default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 vs C++ : Differences</a:t>
            </a:r>
            <a:endParaRPr/>
          </a:p>
        </p:txBody>
      </p:sp>
      <p:sp>
        <p:nvSpPr>
          <p:cNvPr id="238" name="Google Shape;238;p45"/>
          <p:cNvSpPr txBox="1"/>
          <p:nvPr>
            <p:ph idx="1" type="body"/>
          </p:nvPr>
        </p:nvSpPr>
        <p:spPr>
          <a:xfrm>
            <a:off x="311700" y="1152475"/>
            <a:ext cx="8520600" cy="3807000"/>
          </a:xfrm>
          <a:prstGeom prst="rect">
            <a:avLst/>
          </a:prstGeom>
        </p:spPr>
        <p:txBody>
          <a:bodyPr anchorCtr="0" anchor="t" bIns="91425" lIns="91425" spcFirstLastPara="1" rIns="91425" wrap="square" tIns="91425">
            <a:normAutofit fontScale="85000" lnSpcReduction="10000"/>
          </a:bodyPr>
          <a:lstStyle/>
          <a:p>
            <a:pPr indent="-287972" lvl="0" marL="457200" rtl="0" algn="l">
              <a:spcBef>
                <a:spcPts val="1200"/>
              </a:spcBef>
              <a:spcAft>
                <a:spcPts val="0"/>
              </a:spcAft>
              <a:buClr>
                <a:srgbClr val="000000"/>
              </a:buClr>
              <a:buSzPct val="61111"/>
              <a:buFont typeface="Arial"/>
              <a:buChar char="●"/>
            </a:pPr>
            <a:r>
              <a:rPr lang="es"/>
              <a:t>Compilation:</a:t>
            </a:r>
            <a:endParaRPr/>
          </a:p>
          <a:p>
            <a:pPr indent="0" lvl="0" marL="457200" rtl="0" algn="l">
              <a:spcBef>
                <a:spcPts val="1200"/>
              </a:spcBef>
              <a:spcAft>
                <a:spcPts val="0"/>
              </a:spcAft>
              <a:buNone/>
            </a:pPr>
            <a:r>
              <a:rPr lang="es"/>
              <a:t>- C++: Generates machine code directly, allowing for greater control and performance optimization.</a:t>
            </a:r>
            <a:endParaRPr/>
          </a:p>
          <a:p>
            <a:pPr indent="0" lvl="0" marL="457200" rtl="0" algn="l">
              <a:spcBef>
                <a:spcPts val="1200"/>
              </a:spcBef>
              <a:spcAft>
                <a:spcPts val="0"/>
              </a:spcAft>
              <a:buNone/>
            </a:pPr>
            <a:r>
              <a:rPr lang="es"/>
              <a:t>- C#: Generates intermediate code (IL, Intermediate Language) that is then compiled at runtime by the Common Language Runtime (CLR), which can impact performance compared to C++.</a:t>
            </a:r>
            <a:endParaRPr/>
          </a:p>
          <a:p>
            <a:pPr indent="0" lvl="0" marL="457200" rtl="0" algn="l">
              <a:spcBef>
                <a:spcPts val="1200"/>
              </a:spcBef>
              <a:spcAft>
                <a:spcPts val="0"/>
              </a:spcAft>
              <a:buNone/>
            </a:pPr>
            <a:r>
              <a:t/>
            </a:r>
            <a:endParaRPr/>
          </a:p>
          <a:p>
            <a:pPr indent="-287972" lvl="0" marL="457200" rtl="0" algn="l">
              <a:spcBef>
                <a:spcPts val="1200"/>
              </a:spcBef>
              <a:spcAft>
                <a:spcPts val="0"/>
              </a:spcAft>
              <a:buClr>
                <a:srgbClr val="000000"/>
              </a:buClr>
              <a:buSzPct val="61111"/>
              <a:buFont typeface="Arial"/>
              <a:buChar char="●"/>
            </a:pPr>
            <a:r>
              <a:rPr lang="es"/>
              <a:t>Efficiency:</a:t>
            </a:r>
            <a:endParaRPr/>
          </a:p>
          <a:p>
            <a:pPr indent="0" lvl="0" marL="457200" rtl="0" algn="l">
              <a:spcBef>
                <a:spcPts val="1200"/>
              </a:spcBef>
              <a:spcAft>
                <a:spcPts val="0"/>
              </a:spcAft>
              <a:buNone/>
            </a:pPr>
            <a:r>
              <a:rPr lang="es"/>
              <a:t>- C++: Generally more efficient in terms of raw performance and memory usage, due to its proximity to the hardware and ability to optimize at the machine level.</a:t>
            </a:r>
            <a:endParaRPr/>
          </a:p>
          <a:p>
            <a:pPr indent="0" lvl="0" marL="457200" rtl="0" algn="l">
              <a:spcBef>
                <a:spcPts val="1200"/>
              </a:spcBef>
              <a:spcAft>
                <a:spcPts val="1200"/>
              </a:spcAft>
              <a:buNone/>
            </a:pPr>
            <a:r>
              <a:rPr lang="es"/>
              <a:t>- C#: Although less efficient in raw performance, its focus on safety and automatic memory management can lead to faster, less error-prone development.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 vs C++ : </a:t>
            </a:r>
            <a:r>
              <a:rPr lang="es"/>
              <a:t>Differences</a:t>
            </a:r>
            <a:endParaRPr/>
          </a:p>
        </p:txBody>
      </p:sp>
      <p:sp>
        <p:nvSpPr>
          <p:cNvPr id="244" name="Google Shape;244;p46"/>
          <p:cNvSpPr txBox="1"/>
          <p:nvPr>
            <p:ph idx="1" type="body"/>
          </p:nvPr>
        </p:nvSpPr>
        <p:spPr>
          <a:xfrm>
            <a:off x="311700" y="1152475"/>
            <a:ext cx="8520600" cy="3733500"/>
          </a:xfrm>
          <a:prstGeom prst="rect">
            <a:avLst/>
          </a:prstGeom>
        </p:spPr>
        <p:txBody>
          <a:bodyPr anchorCtr="0" anchor="t" bIns="91425" lIns="91425" spcFirstLastPara="1" rIns="91425" wrap="square" tIns="91425">
            <a:normAutofit fontScale="92500" lnSpcReduction="20000"/>
          </a:bodyPr>
          <a:lstStyle/>
          <a:p>
            <a:pPr indent="-293211" lvl="0" marL="457200" rtl="0" algn="l">
              <a:spcBef>
                <a:spcPts val="1200"/>
              </a:spcBef>
              <a:spcAft>
                <a:spcPts val="0"/>
              </a:spcAft>
              <a:buClr>
                <a:srgbClr val="000000"/>
              </a:buClr>
              <a:buSzPct val="61111"/>
              <a:buFont typeface="Arial"/>
              <a:buChar char="●"/>
            </a:pPr>
            <a:r>
              <a:rPr lang="es"/>
              <a:t>Code separation:</a:t>
            </a:r>
            <a:endParaRPr/>
          </a:p>
          <a:p>
            <a:pPr indent="0" lvl="0" marL="457200" rtl="0" algn="l">
              <a:spcBef>
                <a:spcPts val="1200"/>
              </a:spcBef>
              <a:spcAft>
                <a:spcPts val="0"/>
              </a:spcAft>
              <a:buNone/>
            </a:pPr>
            <a:r>
              <a:rPr lang="es"/>
              <a:t>- C++: Traditionally, code is separated into header files (.h) and implementation files (.cpp), allowing a clear distinction between the interface and the implementation.</a:t>
            </a:r>
            <a:endParaRPr/>
          </a:p>
          <a:p>
            <a:pPr indent="0" lvl="0" marL="457200" rtl="0" algn="l">
              <a:spcBef>
                <a:spcPts val="1200"/>
              </a:spcBef>
              <a:spcAft>
                <a:spcPts val="0"/>
              </a:spcAft>
              <a:buNone/>
            </a:pPr>
            <a:r>
              <a:rPr lang="es"/>
              <a:t>- C#: There is no such separation. The class code, its declaration and definition are all contained in the same file.</a:t>
            </a:r>
            <a:endParaRPr/>
          </a:p>
          <a:p>
            <a:pPr indent="0" lvl="0" marL="457200" rtl="0" algn="l">
              <a:spcBef>
                <a:spcPts val="1200"/>
              </a:spcBef>
              <a:spcAft>
                <a:spcPts val="0"/>
              </a:spcAft>
              <a:buNone/>
            </a:pPr>
            <a:r>
              <a:t/>
            </a:r>
            <a:endParaRPr/>
          </a:p>
          <a:p>
            <a:pPr indent="-293211" lvl="0" marL="457200" rtl="0" algn="l">
              <a:spcBef>
                <a:spcPts val="1200"/>
              </a:spcBef>
              <a:spcAft>
                <a:spcPts val="0"/>
              </a:spcAft>
              <a:buClr>
                <a:srgbClr val="000000"/>
              </a:buClr>
              <a:buSzPct val="61111"/>
              <a:buFont typeface="Arial"/>
              <a:buChar char="●"/>
            </a:pPr>
            <a:r>
              <a:rPr lang="es"/>
              <a:t>Type inference:</a:t>
            </a:r>
            <a:endParaRPr/>
          </a:p>
          <a:p>
            <a:pPr indent="0" lvl="0" marL="457200" rtl="0" algn="l">
              <a:spcBef>
                <a:spcPts val="1200"/>
              </a:spcBef>
              <a:spcAft>
                <a:spcPts val="0"/>
              </a:spcAft>
              <a:buNone/>
            </a:pPr>
            <a:r>
              <a:rPr lang="es"/>
              <a:t>- C++: Uses the auto keyword for type inference, allowing the compiler to deduce the type of the variable based on its initialization value.</a:t>
            </a:r>
            <a:endParaRPr/>
          </a:p>
          <a:p>
            <a:pPr indent="0" lvl="0" marL="457200" rtl="0" algn="l">
              <a:spcBef>
                <a:spcPts val="1200"/>
              </a:spcBef>
              <a:spcAft>
                <a:spcPts val="1200"/>
              </a:spcAft>
              <a:buNone/>
            </a:pPr>
            <a:r>
              <a:rPr lang="es"/>
              <a:t>- C#: Uses the var keyword for type inference, which works similarly to auto in C++.</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 vs C++ : </a:t>
            </a:r>
            <a:r>
              <a:rPr lang="es"/>
              <a:t>Differences</a:t>
            </a:r>
            <a:endParaRPr/>
          </a:p>
        </p:txBody>
      </p:sp>
      <p:sp>
        <p:nvSpPr>
          <p:cNvPr id="250" name="Google Shape;250;p47"/>
          <p:cNvSpPr txBox="1"/>
          <p:nvPr>
            <p:ph idx="1" type="body"/>
          </p:nvPr>
        </p:nvSpPr>
        <p:spPr>
          <a:xfrm>
            <a:off x="311700" y="1152475"/>
            <a:ext cx="8520600" cy="3733500"/>
          </a:xfrm>
          <a:prstGeom prst="rect">
            <a:avLst/>
          </a:prstGeom>
        </p:spPr>
        <p:txBody>
          <a:bodyPr anchorCtr="0" anchor="t" bIns="91425" lIns="91425" spcFirstLastPara="1" rIns="91425" wrap="square" tIns="91425">
            <a:normAutofit fontScale="85000" lnSpcReduction="20000"/>
          </a:bodyPr>
          <a:lstStyle/>
          <a:p>
            <a:pPr indent="-287972" lvl="0" marL="457200" rtl="0" algn="l">
              <a:spcBef>
                <a:spcPts val="1200"/>
              </a:spcBef>
              <a:spcAft>
                <a:spcPts val="0"/>
              </a:spcAft>
              <a:buClr>
                <a:srgbClr val="000000"/>
              </a:buClr>
              <a:buSzPct val="61111"/>
              <a:buFont typeface="Arial"/>
              <a:buChar char="●"/>
            </a:pPr>
            <a:r>
              <a:rPr lang="es"/>
              <a:t>Destructors:</a:t>
            </a:r>
            <a:endParaRPr/>
          </a:p>
          <a:p>
            <a:pPr indent="0" lvl="0" marL="457200" rtl="0" algn="l">
              <a:spcBef>
                <a:spcPts val="1200"/>
              </a:spcBef>
              <a:spcAft>
                <a:spcPts val="0"/>
              </a:spcAft>
              <a:buNone/>
            </a:pPr>
            <a:r>
              <a:rPr lang="es"/>
              <a:t>- C++: Uses destructors, which are automatically invoked when an object goes out of scope, allowing the programmer to free resources and perform cleanup tasks manually.</a:t>
            </a:r>
            <a:endParaRPr/>
          </a:p>
          <a:p>
            <a:pPr indent="0" lvl="0" marL="457200" rtl="0" algn="l">
              <a:spcBef>
                <a:spcPts val="1200"/>
              </a:spcBef>
              <a:spcAft>
                <a:spcPts val="0"/>
              </a:spcAft>
              <a:buNone/>
            </a:pPr>
            <a:r>
              <a:rPr lang="es"/>
              <a:t>- C#: Invoked when the garbage collector decides that an object is no longer needed, which may not be immediate. Due to automatic memory management, destructors are used less frequently.</a:t>
            </a:r>
            <a:endParaRPr/>
          </a:p>
          <a:p>
            <a:pPr indent="0" lvl="0" marL="457200" rtl="0" algn="l">
              <a:spcBef>
                <a:spcPts val="1200"/>
              </a:spcBef>
              <a:spcAft>
                <a:spcPts val="0"/>
              </a:spcAft>
              <a:buNone/>
            </a:pPr>
            <a:r>
              <a:t/>
            </a:r>
            <a:endParaRPr/>
          </a:p>
          <a:p>
            <a:pPr indent="-287972" lvl="0" marL="457200" rtl="0" algn="l">
              <a:spcBef>
                <a:spcPts val="1200"/>
              </a:spcBef>
              <a:spcAft>
                <a:spcPts val="0"/>
              </a:spcAft>
              <a:buClr>
                <a:srgbClr val="000000"/>
              </a:buClr>
              <a:buSzPct val="61111"/>
              <a:buFont typeface="Arial"/>
              <a:buChar char="●"/>
            </a:pPr>
            <a:r>
              <a:rPr lang="es"/>
              <a:t>Initialization:</a:t>
            </a:r>
            <a:endParaRPr/>
          </a:p>
          <a:p>
            <a:pPr indent="0" lvl="0" marL="457200" rtl="0" algn="l">
              <a:spcBef>
                <a:spcPts val="1200"/>
              </a:spcBef>
              <a:spcAft>
                <a:spcPts val="0"/>
              </a:spcAft>
              <a:buNone/>
            </a:pPr>
            <a:r>
              <a:rPr lang="es"/>
              <a:t>- C++: Local variables and fields of a class or structure may contain garbage values ​​if not initialized explicitly.</a:t>
            </a:r>
            <a:endParaRPr/>
          </a:p>
          <a:p>
            <a:pPr indent="0" lvl="0" marL="457200" rtl="0" algn="l">
              <a:spcBef>
                <a:spcPts val="1200"/>
              </a:spcBef>
              <a:spcAft>
                <a:spcPts val="0"/>
              </a:spcAft>
              <a:buNone/>
            </a:pPr>
            <a:r>
              <a:rPr lang="es"/>
              <a:t>- C#: Uninitialized local variables will give a compilation error.</a:t>
            </a:r>
            <a:endParaRPr/>
          </a:p>
          <a:p>
            <a:pPr indent="0" lvl="0" marL="457200" rtl="0" algn="l">
              <a:spcBef>
                <a:spcPts val="1200"/>
              </a:spcBef>
              <a:spcAft>
                <a:spcPts val="1200"/>
              </a:spcAft>
              <a:buNone/>
            </a:pPr>
            <a:r>
              <a:rPr lang="es"/>
              <a:t>Fields of a class or structure have default values.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 vs C++ : </a:t>
            </a:r>
            <a:r>
              <a:rPr lang="es"/>
              <a:t>Differences</a:t>
            </a:r>
            <a:endParaRPr/>
          </a:p>
        </p:txBody>
      </p:sp>
      <p:sp>
        <p:nvSpPr>
          <p:cNvPr id="256" name="Google Shape;256;p48"/>
          <p:cNvSpPr txBox="1"/>
          <p:nvPr>
            <p:ph idx="1" type="body"/>
          </p:nvPr>
        </p:nvSpPr>
        <p:spPr>
          <a:xfrm>
            <a:off x="311700" y="1152475"/>
            <a:ext cx="8520600" cy="3733500"/>
          </a:xfrm>
          <a:prstGeom prst="rect">
            <a:avLst/>
          </a:prstGeom>
        </p:spPr>
        <p:txBody>
          <a:bodyPr anchorCtr="0" anchor="t" bIns="91425" lIns="91425" spcFirstLastPara="1" rIns="91425" wrap="square" tIns="91425">
            <a:normAutofit fontScale="85000" lnSpcReduction="20000"/>
          </a:bodyPr>
          <a:lstStyle/>
          <a:p>
            <a:pPr indent="-287972" lvl="0" marL="457200" rtl="0" algn="l">
              <a:spcBef>
                <a:spcPts val="1200"/>
              </a:spcBef>
              <a:spcAft>
                <a:spcPts val="0"/>
              </a:spcAft>
              <a:buClr>
                <a:srgbClr val="000000"/>
              </a:buClr>
              <a:buSzPct val="61111"/>
              <a:buFont typeface="Arial"/>
              <a:buChar char="●"/>
            </a:pPr>
            <a:r>
              <a:rPr lang="es"/>
              <a:t>Constants:</a:t>
            </a:r>
            <a:endParaRPr/>
          </a:p>
          <a:p>
            <a:pPr indent="0" lvl="0" marL="457200" rtl="0" algn="l">
              <a:spcBef>
                <a:spcPts val="1200"/>
              </a:spcBef>
              <a:spcAft>
                <a:spcPts val="0"/>
              </a:spcAft>
              <a:buNone/>
            </a:pPr>
            <a:r>
              <a:rPr lang="es"/>
              <a:t>- C++: Both languages ​​use const to declare constants that cannot change their value after being initialized.</a:t>
            </a:r>
            <a:endParaRPr/>
          </a:p>
          <a:p>
            <a:pPr indent="0" lvl="0" marL="457200" rtl="0" algn="l">
              <a:spcBef>
                <a:spcPts val="1200"/>
              </a:spcBef>
              <a:spcAft>
                <a:spcPts val="0"/>
              </a:spcAft>
              <a:buNone/>
            </a:pPr>
            <a:r>
              <a:rPr lang="es"/>
              <a:t>- C#: Additionally, it offers readonly, which allows a field to be assigned only at its declaration or within the class constructor. Once assigned, the value cannot be modified later.</a:t>
            </a:r>
            <a:endParaRPr/>
          </a:p>
          <a:p>
            <a:pPr indent="0" lvl="0" marL="457200" rtl="0" algn="l">
              <a:spcBef>
                <a:spcPts val="1200"/>
              </a:spcBef>
              <a:spcAft>
                <a:spcPts val="0"/>
              </a:spcAft>
              <a:buNone/>
            </a:pPr>
            <a:r>
              <a:t/>
            </a:r>
            <a:endParaRPr/>
          </a:p>
          <a:p>
            <a:pPr indent="-287972" lvl="0" marL="457200" rtl="0" algn="l">
              <a:spcBef>
                <a:spcPts val="1200"/>
              </a:spcBef>
              <a:spcAft>
                <a:spcPts val="0"/>
              </a:spcAft>
              <a:buClr>
                <a:srgbClr val="000000"/>
              </a:buClr>
              <a:buSzPct val="61111"/>
              <a:buFont typeface="Arial"/>
              <a:buChar char="●"/>
            </a:pPr>
            <a:r>
              <a:rPr lang="es"/>
              <a:t>Object instantiation:</a:t>
            </a:r>
            <a:endParaRPr/>
          </a:p>
          <a:p>
            <a:pPr indent="0" lvl="0" marL="457200" rtl="0" algn="l">
              <a:spcBef>
                <a:spcPts val="1200"/>
              </a:spcBef>
              <a:spcAft>
                <a:spcPts val="0"/>
              </a:spcAft>
              <a:buNone/>
            </a:pPr>
            <a:r>
              <a:rPr lang="es"/>
              <a:t>- C++: It is not always necessary to use new to instantiate an object; it can be done on the stack without new.</a:t>
            </a:r>
            <a:endParaRPr/>
          </a:p>
          <a:p>
            <a:pPr indent="0" lvl="0" marL="457200" rtl="0" algn="l">
              <a:spcBef>
                <a:spcPts val="1200"/>
              </a:spcBef>
              <a:spcAft>
                <a:spcPts val="1200"/>
              </a:spcAft>
              <a:buNone/>
            </a:pPr>
            <a:r>
              <a:rPr lang="es"/>
              <a:t>- C#: It is necessary to use new to instantiate an object, which allocates memory on the heap and calls the class constructor.</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