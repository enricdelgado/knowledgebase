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Average"/>
      <p:regular r:id="rId40"/>
    </p:embeddedFont>
    <p:embeddedFont>
      <p:font typeface="Oswa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verage-regular.fntdata"/><Relationship Id="rId20" Type="http://schemas.openxmlformats.org/officeDocument/2006/relationships/slide" Target="slides/slide15.xml"/><Relationship Id="rId42" Type="http://schemas.openxmlformats.org/officeDocument/2006/relationships/font" Target="fonts/Oswald-bold.fntdata"/><Relationship Id="rId41" Type="http://schemas.openxmlformats.org/officeDocument/2006/relationships/font" Target="fonts/Oswald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BMrYv9nNQGI&amp;list=PLNoRsahkiuzV_OgO9QmIuCy7nr__RGzBS" TargetMode="External"/><Relationship Id="rId3" Type="http://schemas.openxmlformats.org/officeDocument/2006/relationships/hyperlink" Target="https://learn.unity.com/tutorial/editor-scripting#5c7f8528edbc2a002053b5f9" TargetMode="External"/><Relationship Id="rId4" Type="http://schemas.openxmlformats.org/officeDocument/2006/relationships/hyperlink" Target="https://www.youtube.com/watch?v=mTjYA3gC1hA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f1c3b4e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f1c3b4e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d9800e1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d9800e1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d5c6f6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fd5c6f6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f1c3b4ec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f1c3b4ec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f1c3b4e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f1c3b4e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f1c3b4ec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f1c3b4ec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f1c3b4ec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f1c3b4ec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f1c3b4ec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f1c3b4ec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f1c3b4ec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f1c3b4ec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1c3b4ec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1c3b4ec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f1c3b4ec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f1c3b4ec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9800e1d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d9800e1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f1c3b4ec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f1c3b4ec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f1c3b4ec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f1c3b4ec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f1c3b4ec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f1c3b4ec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f1c3b4ec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0f1c3b4ec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f1c3b4ec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f1c3b4ec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f1c3b4ec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f1c3b4ec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0f1c3b4ec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0f1c3b4ec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f1c3b4ec8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f1c3b4ec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f1c3b4ec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0f1c3b4ec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f1c3b4ec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f1c3b4ec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f1c3b4ec8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f1c3b4ec8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0f7734e8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0f7734e8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f1c3b4ec8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f1c3b4ec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0f7734e8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0f7734e8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f7734e8c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f7734e8c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f7734e8c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0f7734e8c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0f1c3b4ec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0f1c3b4ec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500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https://www.youtube.com/watch?v=BMrYv9nNQGI&amp;list=PLNoRsahkiuzV_OgO9QmIuCy7nr__RGzBS</a:t>
            </a:r>
            <a:endParaRPr sz="15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500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https://learn.unity.com/tutorial/editor-scripting#5c7f8528edbc2a002053b5f9</a:t>
            </a:r>
            <a:endParaRPr sz="15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500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https://www.youtube.com/watch?v=mTjYA3gC1hA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arn.microsoft.com/es-es/dotnet/fundamentals/reflection/reflection" TargetMode="External"/><Relationship Id="rId4" Type="http://schemas.openxmlformats.org/officeDocument/2006/relationships/hyperlink" Target="https://learn.microsoft.com/en-us/dotnet/csharp/advanced-topics/reflection-and-attribute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hyperlink" Target="https://docs.unity3d.com/ScriptReference/AddComponentMenu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unity3d.com/ScriptReference/CustomEditor.html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unity3d.com/ScriptReference/EditorGUILayout.html" TargetMode="External"/><Relationship Id="rId4" Type="http://schemas.openxmlformats.org/officeDocument/2006/relationships/hyperlink" Target="https://docs.unity3d.com/ScriptReference/GUILayout.html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dbrizov/NaughtyAttributes" TargetMode="External"/><Relationship Id="rId4" Type="http://schemas.openxmlformats.org/officeDocument/2006/relationships/hyperlink" Target="https://github.com/AnnulusGames/Alchemy" TargetMode="External"/><Relationship Id="rId5" Type="http://schemas.openxmlformats.org/officeDocument/2006/relationships/hyperlink" Target="https://www.odininspector.com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Scripting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Disclaimer:</a:t>
            </a:r>
            <a:endParaRPr b="1" sz="6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Classic Editor vs UI Toolkit!</a:t>
            </a:r>
            <a:endParaRPr b="1" sz="4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01772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Why we need Editor Scripts?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Editor Scripts keywords and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Attributes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OnInspectorGUI and DrawDefaultInspector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GUILayout &amp; EditorGUILayout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Trigger methods from EditorWindow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Editor Folder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Editor Extensions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Gizmos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Custom Attributes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3288" r="0" t="21241"/>
          <a:stretch/>
        </p:blipFill>
        <p:spPr>
          <a:xfrm rot="120541">
            <a:off x="4734876" y="2842425"/>
            <a:ext cx="4358273" cy="221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Why we need Editor Scripts?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50" y="1852613"/>
            <a:ext cx="368617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175" y="2024075"/>
            <a:ext cx="358140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Why we need Editor Scripts?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6288" y="3506538"/>
            <a:ext cx="36766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75" y="1549963"/>
            <a:ext cx="5677920" cy="167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Scripts keywords and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50" y="1789408"/>
            <a:ext cx="9234000" cy="27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2120350" y="1172713"/>
            <a:ext cx="1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</a:rPr>
              <a:t>Attributes</a:t>
            </a:r>
            <a:endParaRPr sz="1800">
              <a:solidFill>
                <a:srgbClr val="FFD9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94" name="Google Shape;94;p18"/>
          <p:cNvCxnSpPr>
            <a:stCxn id="93" idx="1"/>
          </p:cNvCxnSpPr>
          <p:nvPr/>
        </p:nvCxnSpPr>
        <p:spPr>
          <a:xfrm flipH="1">
            <a:off x="878950" y="1403563"/>
            <a:ext cx="1241400" cy="76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8"/>
          <p:cNvSpPr txBox="1"/>
          <p:nvPr/>
        </p:nvSpPr>
        <p:spPr>
          <a:xfrm>
            <a:off x="3760825" y="1221275"/>
            <a:ext cx="28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</a:rPr>
              <a:t>Inherit  from Editor</a:t>
            </a:r>
            <a:endParaRPr sz="1800">
              <a:solidFill>
                <a:srgbClr val="FFD9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96" name="Google Shape;96;p18"/>
          <p:cNvCxnSpPr>
            <a:stCxn id="95" idx="1"/>
          </p:cNvCxnSpPr>
          <p:nvPr/>
        </p:nvCxnSpPr>
        <p:spPr>
          <a:xfrm flipH="1">
            <a:off x="2971825" y="1452125"/>
            <a:ext cx="789000" cy="1032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8"/>
          <p:cNvSpPr txBox="1"/>
          <p:nvPr/>
        </p:nvSpPr>
        <p:spPr>
          <a:xfrm>
            <a:off x="3700400" y="4598575"/>
            <a:ext cx="10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</a:rPr>
              <a:t>Le what?!</a:t>
            </a:r>
            <a:endParaRPr sz="1800">
              <a:solidFill>
                <a:srgbClr val="FFD9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98" name="Google Shape;98;p18"/>
          <p:cNvCxnSpPr>
            <a:stCxn id="97" idx="1"/>
          </p:cNvCxnSpPr>
          <p:nvPr/>
        </p:nvCxnSpPr>
        <p:spPr>
          <a:xfrm rot="10800000">
            <a:off x="1597100" y="4089925"/>
            <a:ext cx="2103300" cy="739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8"/>
          <p:cNvCxnSpPr>
            <a:stCxn id="97" idx="0"/>
          </p:cNvCxnSpPr>
          <p:nvPr/>
        </p:nvCxnSpPr>
        <p:spPr>
          <a:xfrm rot="10800000">
            <a:off x="3069350" y="3167875"/>
            <a:ext cx="1175700" cy="143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8"/>
          <p:cNvSpPr txBox="1"/>
          <p:nvPr/>
        </p:nvSpPr>
        <p:spPr>
          <a:xfrm>
            <a:off x="4266450" y="2163075"/>
            <a:ext cx="36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</a:rPr>
              <a:t>Reflection/Compilation Time Code</a:t>
            </a:r>
            <a:endParaRPr sz="1800">
              <a:solidFill>
                <a:srgbClr val="FFD9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01" name="Google Shape;101;p18"/>
          <p:cNvCxnSpPr>
            <a:stCxn id="100" idx="1"/>
          </p:cNvCxnSpPr>
          <p:nvPr/>
        </p:nvCxnSpPr>
        <p:spPr>
          <a:xfrm rot="10800000">
            <a:off x="1694850" y="2316525"/>
            <a:ext cx="2571600" cy="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8"/>
          <p:cNvCxnSpPr/>
          <p:nvPr/>
        </p:nvCxnSpPr>
        <p:spPr>
          <a:xfrm>
            <a:off x="4418850" y="2546325"/>
            <a:ext cx="495000" cy="118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Attributes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Is this familiar to you? 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325" y="1661775"/>
            <a:ext cx="6836585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9"/>
          <p:cNvCxnSpPr/>
          <p:nvPr/>
        </p:nvCxnSpPr>
        <p:spPr>
          <a:xfrm rot="10800000">
            <a:off x="1934125" y="1890800"/>
            <a:ext cx="0" cy="682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825" y="2573601"/>
            <a:ext cx="3956750" cy="197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9"/>
          <p:cNvCxnSpPr/>
          <p:nvPr/>
        </p:nvCxnSpPr>
        <p:spPr>
          <a:xfrm flipH="1">
            <a:off x="4887025" y="3079075"/>
            <a:ext cx="780600" cy="549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Attributes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are metadata markers to indicate special behaviours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They work with </a:t>
            </a:r>
            <a:r>
              <a:rPr lang="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Reflection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Attributes are not a Unity thing, but a </a:t>
            </a:r>
            <a:r>
              <a:rPr lang="ca" u="sng">
                <a:solidFill>
                  <a:schemeClr val="hlink"/>
                </a:solidFill>
                <a:hlinkClick r:id="rId4"/>
              </a:rPr>
              <a:t>C# thing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But some of them are Unity-exclusive like </a:t>
            </a:r>
            <a:r>
              <a:rPr b="1" lang="ca"/>
              <a:t>[HideInInspector]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There are a bunch of them:</a:t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Attributes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49008" l="0" r="0" t="0"/>
          <a:stretch/>
        </p:blipFill>
        <p:spPr>
          <a:xfrm>
            <a:off x="217700" y="1480950"/>
            <a:ext cx="2163950" cy="26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53546"/>
          <a:stretch/>
        </p:blipFill>
        <p:spPr>
          <a:xfrm>
            <a:off x="6950475" y="1714375"/>
            <a:ext cx="2125900" cy="23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50600"/>
          <a:stretch/>
        </p:blipFill>
        <p:spPr>
          <a:xfrm>
            <a:off x="2487000" y="1562800"/>
            <a:ext cx="2163950" cy="25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4">
            <a:alphaModFix/>
          </a:blip>
          <a:srcRect b="46658" l="0" r="0" t="0"/>
          <a:stretch/>
        </p:blipFill>
        <p:spPr>
          <a:xfrm>
            <a:off x="4737763" y="1420513"/>
            <a:ext cx="2125900" cy="274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4394725"/>
            <a:ext cx="85206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ca" sz="1350" u="sng">
                <a:solidFill>
                  <a:schemeClr val="hlink"/>
                </a:solidFill>
                <a:hlinkClick r:id="rId5"/>
              </a:rPr>
              <a:t>https://docs.unity3d.com/ScriptReference/AddComponentMenu.html</a:t>
            </a:r>
            <a:endParaRPr sz="13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Attributes - Editor Exclusive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311700" y="4394725"/>
            <a:ext cx="85206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ca" sz="1350" u="sng">
                <a:solidFill>
                  <a:schemeClr val="hlink"/>
                </a:solidFill>
                <a:hlinkClick r:id="rId3"/>
              </a:rPr>
              <a:t>https://docs.unity3d.com/ScriptReference/CustomEditor.html</a:t>
            </a:r>
            <a:endParaRPr sz="13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5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4">
            <a:alphaModFix/>
          </a:blip>
          <a:srcRect b="56265" l="0" r="0" t="0"/>
          <a:stretch/>
        </p:blipFill>
        <p:spPr>
          <a:xfrm>
            <a:off x="1948700" y="1676075"/>
            <a:ext cx="2195950" cy="22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4">
            <a:alphaModFix/>
          </a:blip>
          <a:srcRect b="0" l="0" r="0" t="43734"/>
          <a:stretch/>
        </p:blipFill>
        <p:spPr>
          <a:xfrm>
            <a:off x="4672875" y="1226675"/>
            <a:ext cx="2195950" cy="28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OnInspectorGUI and DrawDefaultInspector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2185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6975" y="3659229"/>
            <a:ext cx="36480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OnInspectorGUI and DrawDefaultInspector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338" y="2869248"/>
            <a:ext cx="6739326" cy="21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425" y="1105288"/>
            <a:ext cx="5677920" cy="1676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24"/>
          <p:cNvCxnSpPr/>
          <p:nvPr/>
        </p:nvCxnSpPr>
        <p:spPr>
          <a:xfrm>
            <a:off x="754675" y="3407200"/>
            <a:ext cx="975600" cy="94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4"/>
          <p:cNvCxnSpPr/>
          <p:nvPr/>
        </p:nvCxnSpPr>
        <p:spPr>
          <a:xfrm flipH="1" rot="10800000">
            <a:off x="772400" y="2387225"/>
            <a:ext cx="1037700" cy="1037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GUILayout &amp; </a:t>
            </a:r>
            <a:r>
              <a:rPr lang="ca"/>
              <a:t>EditorGUILayout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Components already stylized for building Editor scripts “UI”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https://docs.unity3d.com/ScriptReference/EditorGUILayout.html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 u="sng">
                <a:solidFill>
                  <a:schemeClr val="hlink"/>
                </a:solidFill>
                <a:hlinkClick r:id="rId4"/>
              </a:rPr>
              <a:t>https://docs.unity3d.com/ScriptReference/GUILayout.html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638" y="2353771"/>
            <a:ext cx="5685000" cy="18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5463" y="3742263"/>
            <a:ext cx="3581400" cy="134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5"/>
          <p:cNvCxnSpPr/>
          <p:nvPr/>
        </p:nvCxnSpPr>
        <p:spPr>
          <a:xfrm flipH="1" rot="10800000">
            <a:off x="1940363" y="3983725"/>
            <a:ext cx="115200" cy="86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5"/>
          <p:cNvCxnSpPr/>
          <p:nvPr/>
        </p:nvCxnSpPr>
        <p:spPr>
          <a:xfrm>
            <a:off x="2082263" y="4870425"/>
            <a:ext cx="3139200" cy="106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Trigger methods from Editor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Usually we use Buttons for this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Keep in mind that the behaviour runs in Editor Time, like if our script have </a:t>
            </a:r>
            <a:r>
              <a:rPr b="1" lang="ca"/>
              <a:t>[ExecuteInEditMode]</a:t>
            </a:r>
            <a:r>
              <a:rPr lang="ca"/>
              <a:t> attribute.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25" y="2369825"/>
            <a:ext cx="3748150" cy="24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2699550"/>
            <a:ext cx="366712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Folder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Editor scripts aren’t available in builds at runtime.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Scripts in an Editor folder run as Editor scripts, not runtime scripts.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You can have multiple Editor folders placed anywhere inside the Assets folder. </a:t>
            </a:r>
            <a:endParaRPr/>
          </a:p>
          <a:p>
            <a:pPr indent="-297497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Even subfolders.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Use the EditorGUIUtility.Load function in Editor scripts to load Assets from a Resources folder within an Editor folder.</a:t>
            </a:r>
            <a:endParaRPr/>
          </a:p>
          <a:p>
            <a:pPr indent="-297497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These Assets are only loaded through Editor scripts and are stripped from builds.</a:t>
            </a:r>
            <a:endParaRPr/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Unity doesn’t allow components derived from MonoBehaviour to be assigned to GameObjects if the scripts are in the Editor folder.</a:t>
            </a:r>
            <a:endParaRPr/>
          </a:p>
          <a:p>
            <a:pPr indent="-280273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ct val="10000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600" y="3828325"/>
            <a:ext cx="2648700" cy="17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15247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editor allows adding custom menus that look and behave like the built-in menus.</a:t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288" y="2014225"/>
            <a:ext cx="3800475" cy="183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8"/>
          <p:cNvCxnSpPr/>
          <p:nvPr/>
        </p:nvCxnSpPr>
        <p:spPr>
          <a:xfrm>
            <a:off x="1002975" y="2360750"/>
            <a:ext cx="1880100" cy="6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6" name="Google Shape;1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7225" y="4102850"/>
            <a:ext cx="43053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311700" y="116132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It’s possible to nest them</a:t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29"/>
          <p:cNvCxnSpPr/>
          <p:nvPr/>
        </p:nvCxnSpPr>
        <p:spPr>
          <a:xfrm>
            <a:off x="1002975" y="2360750"/>
            <a:ext cx="1880100" cy="6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00" y="2242325"/>
            <a:ext cx="3293775" cy="2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9525" y="2720675"/>
            <a:ext cx="4538726" cy="9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16132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Priority Order</a:t>
            </a:r>
            <a:endParaRPr/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455463"/>
              </a:buClr>
              <a:buSzPts val="1050"/>
              <a:buFont typeface="Roboto"/>
              <a:buChar char="-"/>
            </a:pPr>
            <a:r>
              <a:t/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275" y="923988"/>
            <a:ext cx="2516775" cy="40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725" y="2571750"/>
            <a:ext cx="1200150" cy="150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0"/>
          <p:cNvCxnSpPr/>
          <p:nvPr/>
        </p:nvCxnSpPr>
        <p:spPr>
          <a:xfrm rot="10800000">
            <a:off x="6306175" y="1323150"/>
            <a:ext cx="1729200" cy="1374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311700" y="116132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ContextMenu</a:t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333" y="2307550"/>
            <a:ext cx="3891425" cy="19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1796138"/>
            <a:ext cx="3657600" cy="2867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31"/>
          <p:cNvCxnSpPr/>
          <p:nvPr/>
        </p:nvCxnSpPr>
        <p:spPr>
          <a:xfrm flipH="1">
            <a:off x="8496700" y="1234500"/>
            <a:ext cx="88500" cy="1153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1"/>
          <p:cNvCxnSpPr/>
          <p:nvPr/>
        </p:nvCxnSpPr>
        <p:spPr>
          <a:xfrm flipH="1" rot="10800000">
            <a:off x="5410425" y="4205375"/>
            <a:ext cx="1809000" cy="682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1"/>
          <p:cNvCxnSpPr/>
          <p:nvPr/>
        </p:nvCxnSpPr>
        <p:spPr>
          <a:xfrm flipH="1">
            <a:off x="1641525" y="1580350"/>
            <a:ext cx="17700" cy="1560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Extensions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6132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ContextMenuItem</a:t>
            </a:r>
            <a:endParaRPr sz="1050">
              <a:solidFill>
                <a:srgbClr val="4554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50" y="1786924"/>
            <a:ext cx="4873874" cy="26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398" y="3214798"/>
            <a:ext cx="5071350" cy="175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32"/>
          <p:cNvCxnSpPr/>
          <p:nvPr/>
        </p:nvCxnSpPr>
        <p:spPr>
          <a:xfrm flipH="1" rot="10800000">
            <a:off x="3051500" y="3806200"/>
            <a:ext cx="753900" cy="851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32"/>
          <p:cNvCxnSpPr/>
          <p:nvPr/>
        </p:nvCxnSpPr>
        <p:spPr>
          <a:xfrm flipH="1">
            <a:off x="5268450" y="2715475"/>
            <a:ext cx="691800" cy="106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32"/>
          <p:cNvCxnSpPr/>
          <p:nvPr/>
        </p:nvCxnSpPr>
        <p:spPr>
          <a:xfrm>
            <a:off x="2120350" y="1544900"/>
            <a:ext cx="45900" cy="68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Gizmos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 txBox="1"/>
          <p:nvPr>
            <p:ph idx="1" type="body"/>
          </p:nvPr>
        </p:nvSpPr>
        <p:spPr>
          <a:xfrm>
            <a:off x="311700" y="1161325"/>
            <a:ext cx="83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Did you ever tried to edit the rigidbody of an object?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174" y="1953075"/>
            <a:ext cx="2749075" cy="2709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33"/>
          <p:cNvCxnSpPr/>
          <p:nvPr/>
        </p:nvCxnSpPr>
        <p:spPr>
          <a:xfrm flipH="1" rot="10800000">
            <a:off x="3406350" y="2351800"/>
            <a:ext cx="2146200" cy="106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5676475" y="2045950"/>
            <a:ext cx="30345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How is this editable and visual, but not seen in Runtime?</a:t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5004150" y="3315725"/>
            <a:ext cx="30345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Because it’s a </a:t>
            </a:r>
            <a:r>
              <a:rPr b="1" lang="ca"/>
              <a:t>Gizmo!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Gizmos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600" y="1252325"/>
            <a:ext cx="2576544" cy="25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99" y="1163501"/>
            <a:ext cx="5387025" cy="32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/>
          <p:nvPr/>
        </p:nvSpPr>
        <p:spPr>
          <a:xfrm>
            <a:off x="4390125" y="4062350"/>
            <a:ext cx="4301400" cy="975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This can also be done by implementing </a:t>
            </a:r>
            <a:r>
              <a:rPr b="1"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OnDrawGizmos </a:t>
            </a:r>
            <a:r>
              <a:rPr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and </a:t>
            </a:r>
            <a:r>
              <a:rPr b="1"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OnDrawGizmosSelected </a:t>
            </a:r>
            <a:r>
              <a:rPr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in the </a:t>
            </a:r>
            <a:r>
              <a:rPr b="1"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Projectile </a:t>
            </a:r>
            <a:r>
              <a:rPr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class itself, however it is better practice to keep editor functionality separated from game functionality when possible, so we use the </a:t>
            </a:r>
            <a:r>
              <a:rPr b="1"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DrawGizmo </a:t>
            </a:r>
            <a:r>
              <a:rPr lang="ca" sz="9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attribute instead.</a:t>
            </a:r>
            <a:endParaRPr sz="9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45" name="Google Shape;245;p34"/>
          <p:cNvCxnSpPr/>
          <p:nvPr/>
        </p:nvCxnSpPr>
        <p:spPr>
          <a:xfrm rot="10800000">
            <a:off x="1659125" y="2511600"/>
            <a:ext cx="1942200" cy="47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4"/>
          <p:cNvCxnSpPr/>
          <p:nvPr/>
        </p:nvCxnSpPr>
        <p:spPr>
          <a:xfrm rot="10800000">
            <a:off x="2732225" y="3673250"/>
            <a:ext cx="425700" cy="1108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4"/>
          <p:cNvCxnSpPr/>
          <p:nvPr/>
        </p:nvCxnSpPr>
        <p:spPr>
          <a:xfrm flipH="1">
            <a:off x="6705225" y="1793200"/>
            <a:ext cx="319200" cy="603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4"/>
          <p:cNvCxnSpPr/>
          <p:nvPr/>
        </p:nvCxnSpPr>
        <p:spPr>
          <a:xfrm flipH="1" rot="10800000">
            <a:off x="5800625" y="3087925"/>
            <a:ext cx="416700" cy="363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Gizmos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475" y="1249100"/>
            <a:ext cx="51054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25" y="1435313"/>
            <a:ext cx="3581400" cy="27872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5"/>
          <p:cNvCxnSpPr/>
          <p:nvPr/>
        </p:nvCxnSpPr>
        <p:spPr>
          <a:xfrm flipH="1">
            <a:off x="931925" y="968450"/>
            <a:ext cx="975600" cy="1135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5"/>
          <p:cNvCxnSpPr/>
          <p:nvPr/>
        </p:nvCxnSpPr>
        <p:spPr>
          <a:xfrm rot="10800000">
            <a:off x="1224750" y="2609075"/>
            <a:ext cx="257100" cy="1995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5"/>
          <p:cNvCxnSpPr/>
          <p:nvPr/>
        </p:nvCxnSpPr>
        <p:spPr>
          <a:xfrm flipH="1">
            <a:off x="4684875" y="799975"/>
            <a:ext cx="432900" cy="49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5"/>
          <p:cNvCxnSpPr/>
          <p:nvPr/>
        </p:nvCxnSpPr>
        <p:spPr>
          <a:xfrm flipH="1">
            <a:off x="5424225" y="799975"/>
            <a:ext cx="432900" cy="49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5"/>
          <p:cNvCxnSpPr/>
          <p:nvPr/>
        </p:nvCxnSpPr>
        <p:spPr>
          <a:xfrm flipH="1">
            <a:off x="6986575" y="906375"/>
            <a:ext cx="525600" cy="74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35"/>
          <p:cNvCxnSpPr/>
          <p:nvPr/>
        </p:nvCxnSpPr>
        <p:spPr>
          <a:xfrm flipH="1" rot="10800000">
            <a:off x="4913800" y="3424950"/>
            <a:ext cx="328200" cy="118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5"/>
          <p:cNvCxnSpPr/>
          <p:nvPr/>
        </p:nvCxnSpPr>
        <p:spPr>
          <a:xfrm flipH="1" rot="10800000">
            <a:off x="4071350" y="2415675"/>
            <a:ext cx="664800" cy="2162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35"/>
          <p:cNvSpPr txBox="1"/>
          <p:nvPr/>
        </p:nvSpPr>
        <p:spPr>
          <a:xfrm>
            <a:off x="1907525" y="61372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1518975" y="441977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2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5117775" y="33827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5935300" y="33827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4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3861825" y="446227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6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4684875" y="4499900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7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7512175" y="445025"/>
            <a:ext cx="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8</a:t>
            </a:r>
            <a:endParaRPr sz="180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Gizmos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863" y="1017725"/>
            <a:ext cx="46802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Let’s create our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Custom </a:t>
            </a:r>
            <a:r>
              <a:rPr b="1" lang="ca" sz="6100"/>
              <a:t>Attributes!</a:t>
            </a:r>
            <a:endParaRPr b="1" sz="6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Custom Attributes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3443325" y="1606975"/>
            <a:ext cx="2110500" cy="92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Property Attribute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2105900" y="3275800"/>
            <a:ext cx="2110500" cy="92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Property Drawer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88" name="Google Shape;288;p38"/>
          <p:cNvSpPr/>
          <p:nvPr/>
        </p:nvSpPr>
        <p:spPr>
          <a:xfrm>
            <a:off x="4927600" y="3275800"/>
            <a:ext cx="2110500" cy="92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Decorator 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Drawer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89" name="Google Shape;289;p38"/>
          <p:cNvCxnSpPr>
            <a:stCxn id="288" idx="0"/>
            <a:endCxn id="286" idx="2"/>
          </p:cNvCxnSpPr>
          <p:nvPr/>
        </p:nvCxnSpPr>
        <p:spPr>
          <a:xfrm rot="10800000">
            <a:off x="4498450" y="2529100"/>
            <a:ext cx="14844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8"/>
          <p:cNvCxnSpPr>
            <a:stCxn id="287" idx="0"/>
            <a:endCxn id="286" idx="2"/>
          </p:cNvCxnSpPr>
          <p:nvPr/>
        </p:nvCxnSpPr>
        <p:spPr>
          <a:xfrm flipH="1" rot="10800000">
            <a:off x="3161150" y="2529100"/>
            <a:ext cx="13374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713" y="1400300"/>
            <a:ext cx="6683275" cy="1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875" y="3435425"/>
            <a:ext cx="5920950" cy="11157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39"/>
          <p:cNvCxnSpPr/>
          <p:nvPr/>
        </p:nvCxnSpPr>
        <p:spPr>
          <a:xfrm flipH="1" rot="10800000">
            <a:off x="976400" y="2405025"/>
            <a:ext cx="1410000" cy="771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9"/>
          <p:cNvCxnSpPr/>
          <p:nvPr/>
        </p:nvCxnSpPr>
        <p:spPr>
          <a:xfrm rot="10800000">
            <a:off x="4674475" y="4391675"/>
            <a:ext cx="922200" cy="57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9"/>
          <p:cNvCxnSpPr/>
          <p:nvPr/>
        </p:nvCxnSpPr>
        <p:spPr>
          <a:xfrm flipH="1" rot="10800000">
            <a:off x="3221675" y="2458225"/>
            <a:ext cx="1410000" cy="771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Property Drawer - [DisplayWithoutEdit]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Decorator Drawer</a:t>
            </a:r>
            <a:r>
              <a:rPr lang="ca"/>
              <a:t> - </a:t>
            </a:r>
            <a:r>
              <a:rPr lang="ca"/>
              <a:t>[SeparatorAttribute]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751" y="3008151"/>
            <a:ext cx="5188625" cy="15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225" y="1400700"/>
            <a:ext cx="3705225" cy="110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40"/>
          <p:cNvCxnSpPr/>
          <p:nvPr/>
        </p:nvCxnSpPr>
        <p:spPr>
          <a:xfrm flipH="1" rot="10800000">
            <a:off x="1517325" y="2121275"/>
            <a:ext cx="1223700" cy="42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40"/>
          <p:cNvCxnSpPr/>
          <p:nvPr/>
        </p:nvCxnSpPr>
        <p:spPr>
          <a:xfrm flipH="1" rot="10800000">
            <a:off x="756300" y="4020700"/>
            <a:ext cx="1223700" cy="42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Best Editor Extensions (in my experience)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311700" y="1017725"/>
            <a:ext cx="8752500" cy="4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Naughty Attributes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3"/>
              </a:rPr>
              <a:t>https://github.com/dbrizov/NaughtyAttributes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Free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Easy to integrate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Lack of some functionalities (like buttons with parameters)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Alchemy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4"/>
              </a:rPr>
              <a:t>https://github.com/AnnulusGames/Alchemy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Free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Requires Serialization Extensions and Unity 2021.2+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My 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preferred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choice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Odin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5"/>
              </a:rPr>
              <a:t>https://www.odininspector.com/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Paid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The 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very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best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Has some license 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limitations</a:t>
            </a: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that you should be aware of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More Things to do if there’s enough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2"/>
          <p:cNvSpPr txBox="1"/>
          <p:nvPr/>
        </p:nvSpPr>
        <p:spPr>
          <a:xfrm>
            <a:off x="311700" y="1017725"/>
            <a:ext cx="87525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Custom icons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Images on Editor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Editor Windows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Extend Unity’s Toolbar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-"/>
            </a:pPr>
            <a:r>
              <a:rPr lang="ca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Unity’s UI Toolkit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